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5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RAG sobre Legislação ANEEL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Pipeline end-to-end de ingestão, parsing e Q&amp;A jurídico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Desafio CEIA  ·  27 mil PDFs  ·  6 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O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Construir um "assistente" que responde sobre legislação ANEEL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1A4480"/>
                </a:solidFill>
                <a:latin typeface="Calibri"/>
              </a:rPr>
              <a:t>Imagine a cena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27 mil PDFs de leis do setor elétrico (2016 / 2021 / 2022)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Um especialista faz perguntas técnicas — "qual o prazo da revisão tarifária?"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Sistema precisa achar a resposta certa, citando a fonte exata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31920"/>
            <a:ext cx="3657600" cy="18288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4069080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⚖ Precisão absoluta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26280"/>
            <a:ext cx="338328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Lei errada = problema real. Não pode inventar nem chutar.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931920"/>
            <a:ext cx="3657600" cy="18288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4069080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📋 Documentos complexos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4526280"/>
            <a:ext cx="338328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Tabelas, artigos revogados, páginas escaneadas — tudo misturado.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931920"/>
            <a:ext cx="3657600" cy="18288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4069080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⏱ Pouco tempo, pouco dinheiro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4526280"/>
            <a:ext cx="338328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6 dias. Solução cara (OCR + LLM em tudo) custaria centenas de dólares.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1A4480"/>
                </a:solidFill>
                <a:latin typeface="Calibri"/>
              </a:rPr>
              <a:t>→ Solução: pipeline esperto que escolhe a ferramenta certa pra cada página.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A Linha de 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Cada PDF passa por 6 etapas até virar resposta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/>
            <a:r>
              <a:rPr sz="1800" b="1">
                <a:solidFill>
                  <a:srgbClr val="FFFFFF"/>
                </a:solidFill>
              </a:rPr>
              <a:t>1. Baixar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536192"/>
            <a:ext cx="8229600" cy="685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Pegar todos os PDFs do site da ANEEL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67128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/>
            <a:r>
              <a:rPr sz="1800" b="1">
                <a:solidFill>
                  <a:srgbClr val="FFFFFF"/>
                </a:solidFill>
              </a:rPr>
              <a:t>2. Classificar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2331720"/>
            <a:ext cx="8229600" cy="685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Ler é fácil ou vai precisar "olho humano"?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/>
            <a:r>
              <a:rPr sz="1800" b="1">
                <a:solidFill>
                  <a:srgbClr val="FFFFFF"/>
                </a:solidFill>
              </a:rPr>
              <a:t>3. Extrair 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127248"/>
            <a:ext cx="8229600" cy="685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Tirar o conteúdo do PDF → texto puro + tabelas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58184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/>
            <a:r>
              <a:rPr sz="1800" b="1">
                <a:solidFill>
                  <a:srgbClr val="FFFFFF"/>
                </a:solidFill>
              </a:rPr>
              <a:t>4. Cortar em pedaços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922776"/>
            <a:ext cx="8229600" cy="685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Quebrar texto longo em "trechos" de tamanho útil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53712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/>
            <a:r>
              <a:rPr sz="1800" b="1">
                <a:solidFill>
                  <a:srgbClr val="FFFFFF"/>
                </a:solidFill>
              </a:rPr>
              <a:t>5. Indexar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4718304"/>
            <a:ext cx="8229600" cy="685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Transformar texto em números → guardar em "banco de busca"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349240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/>
            <a:r>
              <a:rPr sz="1800" b="1">
                <a:solidFill>
                  <a:srgbClr val="FFFFFF"/>
                </a:solidFill>
              </a:rPr>
              <a:t>6. Responder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5513832"/>
            <a:ext cx="8229600" cy="685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Buscar trechos relevantes → LLM monta a resposta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Baixar e "Ler" os PDFs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Como tirar o texto de 27 mil documentos sem gastar fortuna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🌐 Baixar — o site bloqueava bots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Site da ANEEL detecta robôs e devolve erro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Solução: ferramenta que se passa pelo navegador Chrome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Resultado: download em massa funciona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🧠 Decisor inteligente por página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Cada página é classificada antes de ser lida:</a:t>
            </a:r>
          </a:p>
          <a:p>
            <a:pPr lvl="1">
              <a:spcAft>
                <a:spcPts val="4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– Texto digital → caminho rápido (grátis)</a:t>
            </a:r>
          </a:p>
          <a:p>
            <a:pPr lvl="1">
              <a:spcAft>
                <a:spcPts val="4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– Imagem escaneada → caminho lento (LLM com visão)</a:t>
            </a:r>
          </a:p>
          <a:p>
            <a:pPr lvl="1">
              <a:spcAft>
                <a:spcPts val="4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– Tabela complexa → ferramenta especializada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Por que 2 caminhos?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83080"/>
            <a:ext cx="5303520" cy="1920240"/>
          </a:xfrm>
          <a:prstGeom prst="roundRect">
            <a:avLst/>
          </a:prstGeom>
          <a:solidFill>
            <a:srgbClr val="E6F4E6"/>
          </a:solidFill>
          <a:ln>
            <a:solidFill>
              <a:srgbClr val="22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874519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228844"/>
                </a:solidFill>
                <a:latin typeface="Calibri"/>
              </a:rPr>
              <a:t>✓ Caminho rápido (95% das páginas)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5029200" cy="1371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PDF "normal" tem o texto guardado dentro.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Ferramenta abre, copia o texto, pega tabelas.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Custo: zero. Velocidade: alta.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840480"/>
            <a:ext cx="5303520" cy="1920240"/>
          </a:xfrm>
          <a:prstGeom prst="roundRect">
            <a:avLst/>
          </a:prstGeom>
          <a:solidFill>
            <a:srgbClr val="FFF0E0"/>
          </a:solidFill>
          <a:ln>
            <a:solidFill>
              <a:srgbClr val="C2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393192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C26B00"/>
                </a:solidFill>
                <a:latin typeface="Calibri"/>
              </a:rPr>
              <a:t>⚠ Caminho lento (~5% das páginas)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389120"/>
            <a:ext cx="5029200" cy="1371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PDF escaneado é uma foto — não tem texto.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LLM com visão (Gemini) lê a imagem.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Custo: paga por página. Só usar quando precisa.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807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228844"/>
                </a:solidFill>
                <a:latin typeface="Calibri"/>
              </a:rPr>
              <a:t>💰 Sem o decisor: ~$300+. Com o decisor: ~$22. Economia de ~93%.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Texto Revogado (Strikethrough)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O que é e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6858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1A4480"/>
                </a:solidFill>
                <a:latin typeface="Calibri"/>
              </a:rPr>
              <a:t>O que 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6675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700" b="0">
                <a:solidFill>
                  <a:srgbClr val="222222"/>
                </a:solidFill>
                <a:latin typeface="Calibri"/>
              </a:rPr>
              <a:t>Texto cortado por linha horizontal: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6675120" cy="82296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800" dirty="0">
                <a:solidFill>
                  <a:srgbClr val="222222"/>
                </a:solidFill>
              </a:rPr>
              <a:t>Art. 5º A </a:t>
            </a:r>
            <a:r>
              <a:rPr sz="1800" dirty="0" err="1">
                <a:solidFill>
                  <a:srgbClr val="222222"/>
                </a:solidFill>
              </a:rPr>
              <a:t>distribuidora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strike="sngStrike" dirty="0" err="1">
                <a:solidFill>
                  <a:srgbClr val="B02020"/>
                </a:solidFill>
              </a:rPr>
              <a:t>deve</a:t>
            </a:r>
            <a:r>
              <a:rPr sz="1800" strike="sngStrike" dirty="0">
                <a:solidFill>
                  <a:srgbClr val="B02020"/>
                </a:solidFill>
              </a:rPr>
              <a:t> </a:t>
            </a:r>
            <a:r>
              <a:rPr sz="1800" strike="sngStrike" dirty="0" err="1">
                <a:solidFill>
                  <a:srgbClr val="B02020"/>
                </a:solidFill>
              </a:rPr>
              <a:t>apresentar</a:t>
            </a:r>
            <a:r>
              <a:rPr sz="1800" strike="sngStrike" dirty="0">
                <a:solidFill>
                  <a:srgbClr val="B02020"/>
                </a:solidFill>
              </a:rPr>
              <a:t> </a:t>
            </a:r>
            <a:r>
              <a:rPr sz="1800" strike="sngStrike" dirty="0" err="1">
                <a:solidFill>
                  <a:srgbClr val="B02020"/>
                </a:solidFill>
              </a:rPr>
              <a:t>plano</a:t>
            </a:r>
            <a:r>
              <a:rPr sz="1800" strike="sngStrike" dirty="0">
                <a:solidFill>
                  <a:srgbClr val="B02020"/>
                </a:solidFill>
              </a:rPr>
              <a:t> </a:t>
            </a:r>
            <a:r>
              <a:rPr sz="1800" strike="sngStrike" dirty="0" err="1">
                <a:solidFill>
                  <a:srgbClr val="B02020"/>
                </a:solidFill>
              </a:rPr>
              <a:t>em</a:t>
            </a:r>
            <a:r>
              <a:rPr sz="1800" strike="sngStrike" dirty="0">
                <a:solidFill>
                  <a:srgbClr val="B02020"/>
                </a:solidFill>
              </a:rPr>
              <a:t> 30 </a:t>
            </a:r>
            <a:r>
              <a:rPr sz="1800" strike="sngStrike" dirty="0" err="1">
                <a:solidFill>
                  <a:srgbClr val="B02020"/>
                </a:solidFill>
              </a:rPr>
              <a:t>dias</a:t>
            </a:r>
            <a:endParaRPr sz="1800" strike="sngStrike" dirty="0">
              <a:solidFill>
                <a:srgbClr val="B0202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6858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1A4480"/>
                </a:solidFill>
                <a:latin typeface="Calibri"/>
              </a:rPr>
              <a:t>Em legislação ANEEL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6675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Indica artigo revogado por norma posterior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Texto continua impresso (rastreabilidade)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Mas não vale mais como norma vigente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280160"/>
            <a:ext cx="4023360" cy="4937760"/>
          </a:xfrm>
          <a:prstGeom prst="roundRect">
            <a:avLst/>
          </a:prstGeom>
          <a:solidFill>
            <a:srgbClr val="FFF4E0"/>
          </a:solidFill>
          <a:ln>
            <a:solidFill>
              <a:srgbClr val="C2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63840" y="1417320"/>
            <a:ext cx="36576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C26B00"/>
                </a:solidFill>
                <a:latin typeface="Calibri"/>
              </a:rPr>
              <a:t>⚠ Por que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92024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LLM lê tachado como vigente → resposta errada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Especialista do setor detecta erro instantâneo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Legislação tem zero tolerância a erro citacional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Campo "situacao" do metadado descreve o doc inteiro, não trechos internos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>
                <a:solidFill>
                  <a:srgbClr val="1A4480"/>
                </a:solidFill>
                <a:latin typeface="Calibri"/>
              </a:rPr>
              <a:t>Problema: PDF não armazena flag "isto é tachado". Texto e linha são camadas separadas — preciso cruzar.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Como Detectamos o Strikethrough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Cruzar geometria de texto × linhas desenhadas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PDF digital — 3 testes geométricos por span de texto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6400800" cy="77724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600" b="1">
                <a:solidFill>
                  <a:srgbClr val="1A4480"/>
                </a:solidFill>
              </a:rPr>
              <a:t>1. É linha mesmo?</a:t>
            </a:r>
          </a:p>
          <a:p>
            <a:r>
              <a:rPr sz="1300">
                <a:solidFill>
                  <a:srgbClr val="222222"/>
                </a:solidFill>
              </a:rPr>
              <a:t>horizontal fina (≤1.2px) e comprida (&gt;4px) — descarta ruído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6400800" cy="77724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600" b="1">
                <a:solidFill>
                  <a:srgbClr val="1A4480"/>
                </a:solidFill>
              </a:rPr>
              <a:t>2. Cai no MEIO do texto?</a:t>
            </a:r>
          </a:p>
          <a:p>
            <a:r>
              <a:rPr sz="1300">
                <a:solidFill>
                  <a:srgbClr val="222222"/>
                </a:solidFill>
              </a:rPr>
              <a:t>centro da linha na banda 45% central → descarta sublinhado/overline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29000"/>
            <a:ext cx="6400800" cy="77724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600" b="1">
                <a:solidFill>
                  <a:srgbClr val="1A4480"/>
                </a:solidFill>
              </a:rPr>
              <a:t>3. Cobre o texto?</a:t>
            </a:r>
          </a:p>
          <a:p>
            <a:r>
              <a:rPr sz="1300">
                <a:solidFill>
                  <a:srgbClr val="222222"/>
                </a:solidFill>
              </a:rPr>
              <a:t>sobreposição horizontal ≥ 55% da largura → descarta decoração curta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6858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228844"/>
                </a:solidFill>
                <a:latin typeface="Calibri"/>
              </a:rPr>
              <a:t>3 testes verdadeiros → span marcado revoked=True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691640"/>
            <a:ext cx="438912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52360" y="1783080"/>
            <a:ext cx="4114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1A4480"/>
                </a:solidFill>
                <a:latin typeface="Calibri"/>
              </a:rPr>
              <a:t>Anatomia do span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148840"/>
            <a:ext cx="4114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─── topo (sublinhado: IGNORA)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2468880"/>
            <a:ext cx="4114800" cy="914400"/>
          </a:xfrm>
          <a:prstGeom prst="rect">
            <a:avLst/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43800" y="2514600"/>
            <a:ext cx="40233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texto do span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89520" y="2880360"/>
            <a:ext cx="3840480" cy="0"/>
          </a:xfrm>
          <a:prstGeom prst="line">
            <a:avLst/>
          </a:prstGeom>
          <a:ln w="25400">
            <a:solidFill>
              <a:srgbClr val="C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543800" y="2971800"/>
            <a:ext cx="40233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C02020"/>
                </a:solidFill>
                <a:latin typeface="Calibri"/>
              </a:rPr>
              <a:t>← banda 45% central = TACHADO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3520440"/>
            <a:ext cx="4114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─── base (overline: IGNORA)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920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Caminho extra (digital): annotations com subtype=StrikeOut → atalho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PDF escaneado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Sem geometria → Gemini Vision faz OCR + prompt: "trecho tachado deve aparecer como ~~texto~~"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228844"/>
                </a:solidFill>
                <a:latin typeface="Calibri"/>
              </a:rPr>
              <a:t>→ Saída unificada: marcador ~~...~~ propaga até o prompt da LLM ("nunca trate como vigente")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Cortando o Texto em Pedaços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Por que e como dividir 50 páginas de lei em "trechos"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📖 A analogia do livro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94960" cy="1828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LLM não cabe um livro inteiro de uma vez.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Precisamos cortar em pedaços ("chunks").</a:t>
            </a:r>
          </a:p>
          <a:p>
            <a:pPr algn="l"/>
            <a:endParaRPr sz="1500" b="0">
              <a:solidFill>
                <a:srgbClr val="222222"/>
              </a:solidFill>
              <a:latin typeface="Calibri"/>
            </a:endParaRP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Como cortar?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657600"/>
            <a:ext cx="5577840" cy="1280160"/>
          </a:xfrm>
          <a:prstGeom prst="roundRect">
            <a:avLst/>
          </a:prstGeom>
          <a:solidFill>
            <a:srgbClr val="FFE8E8"/>
          </a:solidFill>
          <a:ln>
            <a:solidFill>
              <a:srgbClr val="C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C02020"/>
                </a:solidFill>
                <a:latin typeface="Calibri"/>
              </a:rPr>
              <a:t>✗ Jeito ingênuo: cortar a cada 500 palavras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60520"/>
            <a:ext cx="5212080" cy="8229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Corta no meio do Art. 5º. Metade fica num pedaço,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metade noutro. Resposta sai pela metade também.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74920"/>
            <a:ext cx="5577840" cy="1371600"/>
          </a:xfrm>
          <a:prstGeom prst="roundRect">
            <a:avLst/>
          </a:prstGeom>
          <a:solidFill>
            <a:srgbClr val="E6F4E6"/>
          </a:solidFill>
          <a:ln>
            <a:solidFill>
              <a:srgbClr val="22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228844"/>
                </a:solidFill>
                <a:latin typeface="Calibri"/>
              </a:rPr>
              <a:t>✓ Nosso jeito: cortar pela estrutura da lei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577840"/>
            <a:ext cx="5212080" cy="9144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Cada Artigo / Parágrafo / Capítulo vira 1 pedaço.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Respeitamos como a lei foi escrita.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Exemplo de pedaço gerado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783080"/>
            <a:ext cx="5394960" cy="32004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1874519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1A4480"/>
                </a:solidFill>
                <a:latin typeface="Calibri"/>
              </a:rPr>
              <a:t>Etiquetas que viajam com o pedaço: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86000"/>
            <a:ext cx="51206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Qual artigo? (Art. 12)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Qual documento? (REN 1.000/2021)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Qual página? (pg 4-5)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Tem tabela? Sim/Não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Tem trecho revogado? Sim/Não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166360"/>
            <a:ext cx="548640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Quando a LLM responde, ela já sabe: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"isso veio do Art. 12 da REN 1.000/2021".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Citação automática e precisa.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Transformando Texto em "Coordenadas"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Como o computador entende o significado de um trecho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🧬 A ideia: cada trecho vira um "DNA numérico"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972800" cy="1371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Um modelo de IA lê o texto e gera uma lista de 1024 números.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Trechos com significado parecido geram números parecidos.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→ Computador consegue "buscar por significado", não só por palavra-chave.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5486400" cy="219456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520440"/>
            <a:ext cx="51206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700" b="1">
                <a:solidFill>
                  <a:srgbClr val="1A4480"/>
                </a:solidFill>
                <a:latin typeface="Calibri"/>
              </a:rPr>
              <a:t>🎯 Busca por significado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5120640" cy="15544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Pergunta: "prazo de revisão tarifária"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Encontra: "período da reanálise das tarifas"</a:t>
            </a:r>
          </a:p>
          <a:p>
            <a:pPr algn="l"/>
            <a:endParaRPr sz="1400" b="0">
              <a:solidFill>
                <a:srgbClr val="222222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Mesmo sem palavras iguais.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383280"/>
            <a:ext cx="5486400" cy="219456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3520440"/>
            <a:ext cx="51206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700" b="1">
                <a:solidFill>
                  <a:srgbClr val="1A4480"/>
                </a:solidFill>
                <a:latin typeface="Calibri"/>
              </a:rPr>
              <a:t>🔤 Busca por palavra-chave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977639"/>
            <a:ext cx="5120640" cy="15544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Pergunta menciona "REN 1.000"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Encontra trechos com exatamente "REN 1.000".</a:t>
            </a:r>
          </a:p>
          <a:p>
            <a:pPr algn="l"/>
            <a:endParaRPr sz="1400" b="0">
              <a:solidFill>
                <a:srgbClr val="222222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Bom pra termos técnicos e nomes próprios.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📦 Onde guardamos: Qdrant — banco de dados especializado em vetores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722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Roda local (Docker), grátis. Permite filtrar por ano, documento, situação.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Como Encontrar o Trecho Certo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3 "investigadores" trabalham juntos pra achar a melhor resposta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1828800" cy="640080"/>
          </a:xfrm>
          <a:prstGeom prst="round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Pergunta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463040"/>
            <a:ext cx="2743200" cy="77724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🎯 Investigador 1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busca por significado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2514600"/>
            <a:ext cx="2743200" cy="77724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🔤 Investigador 2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busca por palavra-chave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3566160"/>
            <a:ext cx="2743200" cy="77724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🔢 Investigador 3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busca por número da norma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514600"/>
            <a:ext cx="2194560" cy="777240"/>
          </a:xfrm>
          <a:prstGeom prst="roundRect">
            <a:avLst/>
          </a:prstGeom>
          <a:solidFill>
            <a:srgbClr val="44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🤝 Vota junto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combina os 3 rankings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2514600"/>
            <a:ext cx="1828800" cy="777240"/>
          </a:xfrm>
          <a:prstGeom prst="roundRect">
            <a:avLst/>
          </a:prstGeom>
          <a:solidFill>
            <a:srgbClr val="44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⚖ Juiz final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reordena top 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0" y="2514600"/>
            <a:ext cx="822960" cy="777240"/>
          </a:xfrm>
          <a:prstGeom prst="roundRect">
            <a:avLst/>
          </a:prstGeom>
          <a:solidFill>
            <a:srgbClr val="33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Top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Por que 3 investigadores?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74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Cada um é bom em algo diferente — combinar é melhor que escolher um só</a:t>
            </a:r>
          </a:p>
          <a:p>
            <a:pPr lvl="1"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– Significado pega "prazo de revisão" mesmo se o texto diz "período da reanálise"</a:t>
            </a:r>
          </a:p>
          <a:p>
            <a:pPr lvl="1"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– Palavra-chave pega termos técnicos exatos como "bandeira tarifária"</a:t>
            </a:r>
          </a:p>
          <a:p>
            <a:pPr lvl="1"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– Número de norma pega "REN 1.000/2021" direto, sem depender de contexto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Juiz final reordena com modelo mais preciso → garante que os 6 melhores ficam no topo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Resposta e Como Sabemos Se Está Boa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LLM monta a resposta · gabarito mede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💬 Como a resposta é montada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577840" cy="22860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5212080" cy="21945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1. Pegamos os 6 melhores trechos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2. Entregamos pra LLM (Gemini) com regras: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    – cite a fonte de cada afirmação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    – ignore texto revogado (~~...~~)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    – se não souber, diga "não consta"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3. LLM gera resposta + lista de citações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🎚 Temperatura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63440"/>
            <a:ext cx="5394960" cy="1645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LLM responde de forma determinística — mesma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pergunta, mesma resposta. Sem criatividade.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Em direito não queremos LLM "inventando".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📏 Como medimos qualidade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737360"/>
            <a:ext cx="539496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Criamos um "gabarito" — lista de perguntas com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as respostas corretas anotadas pelo especialista.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060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Achou o documento certo? (Hit@k)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Citou o artigo certo?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O número/prazo está exato?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 resposta cobre o que o gabarito diz?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Quando não tem informação, ela recusa?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Quanto tempo levou?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→ Outra LLM atua como "juiz" comparando</a:t>
            </a:r>
          </a:p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    resposta nossa × resposta do gabarito.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O Que Funcionou e o Que Foi Trocado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Decisões importantes em linguagem simples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228844"/>
                </a:solidFill>
                <a:latin typeface="Calibri"/>
              </a:rPr>
              <a:t>✓ Acertos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Decisor por página economizou ~93% do custo de OCR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Cortar texto pelos artigos da lei melhorou muito as citações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Pipeline retoma do ponto onde parou se cair — sem refazer do 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C26B00"/>
                </a:solidFill>
                <a:latin typeface="Calibri"/>
              </a:rPr>
              <a:t>⚖ Escolhas conscientes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Pagamos a LLM (Vertex AI) em vez de usar gratuita — confiabilidade vale mais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Reranker pago é mais rápido e preciso, mas tem limite de chamadas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Banco de controle simples (sqlite) — basta pra esse projeto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1A4480"/>
                </a:solidFill>
                <a:latin typeface="Calibri"/>
              </a:rPr>
              <a:t>🚀 Próximos passos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321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Testar variações de tamanho de chunk · LLM reescrevendo a pergunta antes de buscar · cache de buscas frequentes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Ferramentas Usadas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Cada etapa, qual ferramenta e pra que serve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29999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76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69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5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>
                    <a:solidFill>
                      <a:srgbClr val="1A44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Ferramenta</a:t>
                      </a:r>
                    </a:p>
                  </a:txBody>
                  <a:tcPr>
                    <a:solidFill>
                      <a:srgbClr val="1A44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Pra que serve</a:t>
                      </a:r>
                    </a:p>
                  </a:txBody>
                  <a:tcPr>
                    <a:solidFill>
                      <a:srgbClr val="1A44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Baixar PDFs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curl_cffi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Disfarça de navegador pra passar pelo Cloudflare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Ler PDF normal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PyMuPDF + pdfplumber + Camelot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Tira texto e tabelas direto do PDF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Ler PDF escaneado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Gemini 2.5 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LLM "olha" a página e transcreve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Cortar em pedaços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Lógica própria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Quebra pelos artigos da lei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DNA do 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BGE-M3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Vira números pra busca por significado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Banco de busca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Qdrant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Guarda os números e busca rápido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Encontrar trechos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 buscas + fusão + juiz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Acha os 6 melhores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Gerar resposta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Gemini 2.5 Flash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Lê os trechos e responde com citação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Avaliar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Gabarito + outra LLM como juiz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Mede se a resposta está boa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2800" b="1">
                <a:solidFill>
                  <a:srgbClr val="1A4480"/>
                </a:solidFill>
                <a:latin typeface="Calibri"/>
              </a:rPr>
              <a:t>Obrigado!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1675</Words>
  <Application>Microsoft Office PowerPoint</Application>
  <PresentationFormat>Widescreen</PresentationFormat>
  <Paragraphs>237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keywords/>
  <dc:description>generated using python-pptx</dc:description>
  <cp:lastModifiedBy>Gustavo Barros</cp:lastModifiedBy>
  <cp:revision>2</cp:revision>
  <dcterms:created xsi:type="dcterms:W3CDTF">2013-01-27T09:14:16Z</dcterms:created>
  <dcterms:modified xsi:type="dcterms:W3CDTF">2026-04-26T16:03:57Z</dcterms:modified>
  <cp:category/>
</cp:coreProperties>
</file>
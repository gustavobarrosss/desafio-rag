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RAG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Pipeline end-to-end de ingestão, parsing e Q&amp;A jurídico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Desafio CEIA  ·  27 mil PDFs  ·  6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Construir um "assistente" que responde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Imagine a cena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27 mil PDFs de leis do setor elétrico (2016 / 2021 / 2022)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Um especialista faz perguntas técnicas — "qual o prazo da revisão tarifária?"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Sistema precisa achar a resposta certa, citando a fonte exata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⚖ Precisão absoluta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Lei errada = problema real. Não pode inventar nem chutar.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📋 Documentos complexos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Tabelas, artigos revogados, páginas escaneadas — tudo misturado.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4069080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⏱ Pouco tempo, pouco dinheiro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526280"/>
            <a:ext cx="33832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6 dias. Solução cara (OCR + LLM em tudo) custaria centenas de dólares.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→ Solução: pipeline esperto que escolhe a ferramenta certa pra cada página.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A Linha de 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PDF passa por 6 etapas até virar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1. Baixar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536192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Pegar todos os PDFs do site da ANEEL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2. Classificar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331720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Ler é fácil ou vai precisar "olho humano"?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3. Extrair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127248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Tirar o conteúdo do PDF → texto puro + tabelas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58184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4. Cortar em pedaços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922776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Quebrar texto longo em "trechos" de tamanho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53712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5. Indexar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718304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Transformar texto em números → guardar em "banco de busca"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4924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l"/>
            <a:r>
              <a:rPr sz="1800" b="1">
                <a:solidFill>
                  <a:srgbClr val="FFFFFF"/>
                </a:solidFill>
              </a:rPr>
              <a:t>6. Responder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513832"/>
            <a:ext cx="8229600" cy="685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Buscar trechos relevantes → LLM monta 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Baixar e "Ler" os PDFs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tirar o texto de 27 mil documentos sem gastar fortuna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🌐 Baixar — o site bloqueava bots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Site da ANEEL detecta robôs e devolve erro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Solução: ferramenta que se passa pelo navegador Chrome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Resultado: download em massa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🧠 Decisor inteligente por página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Cada página é classificada antes de ser lida: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Texto digital → caminho rápido (grátis)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Imagem escaneada → caminho lento (LLM com visão)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Tabela complexa → ferramenta especializada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Por que 2 caminhos?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5303520" cy="192024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✓ Caminho rápido (95% das páginas)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"normal" tem o texto guardado dentro.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Ferramenta abre, copia o texto, pega tabelas.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zero. Velocidade: alta.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40480"/>
            <a:ext cx="5303520" cy="1920240"/>
          </a:xfrm>
          <a:prstGeom prst="roundRect">
            <a:avLst/>
          </a:prstGeom>
          <a:solidFill>
            <a:srgbClr val="FFF0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C26B00"/>
                </a:solidFill>
                <a:latin typeface="Calibri"/>
              </a:rPr>
              <a:t>⚠ Caminho lento (~5% das páginas)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8912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escaneado é uma foto — não tem texto.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com visão (Gemini) lê a imagem.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paga por página. Só usar quando precisa.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💰 Sem o decisor: ~$300+. Com o decisor: ~$22. Economia de ~93%.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Texto Revogado (Strikethrough)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O que é e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O que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6675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Texto cortado por linha horizontal: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6675120" cy="8229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800">
                <a:solidFill>
                  <a:srgbClr val="222222"/>
                </a:solidFill>
              </a:rPr>
              <a:t>Art. 5º A distribuidora </a:t>
            </a:r>
            <a:r>
              <a:rPr sz="1800">
                <a:solidFill>
                  <a:srgbClr val="B02020"/>
                </a:solidFill>
              </a:rPr>
              <a:t>deve apresentar plano em 30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Em legislação ANEEL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Indica artigo revogado por norma posterior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Texto continua impresso (rastreabilidade)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Mas não vale mais como norma vigente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4023360" cy="493776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14173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C26B00"/>
                </a:solidFill>
                <a:latin typeface="Calibri"/>
              </a:rPr>
              <a:t>⚠ Por que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LLM lê tachado como vigente → resposta errada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Especialista do setor detecta erro instantâneo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Legislação tem zero tolerância a erro citacional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Campo "situacao" do metadado descreve o doc inteiro, não trechos internos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Problema: PDF não armazena flag "isto é tachado". Texto e linha são camadas separadas — preciso cruzar.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Detectamos o Strikethrough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Cruzar geometria de texto × linhas desenhadas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digital — 3 testes geométricos por span de 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1. É linha mesmo?</a:t>
            </a:r>
          </a:p>
          <a:p>
            <a:r>
              <a:rPr sz="1300">
                <a:solidFill>
                  <a:srgbClr val="222222"/>
                </a:solidFill>
              </a:rPr>
              <a:t>horizontal fina (≤1.2px) e comprida (&gt;4px) — descarta ruído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2. Cai no MEIO do texto?</a:t>
            </a:r>
          </a:p>
          <a:p>
            <a:r>
              <a:rPr sz="1300">
                <a:solidFill>
                  <a:srgbClr val="222222"/>
                </a:solidFill>
              </a:rPr>
              <a:t>centro da linha na banda 45% central → descarta sublinhado/overline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600" b="1">
                <a:solidFill>
                  <a:srgbClr val="1A4480"/>
                </a:solidFill>
              </a:rPr>
              <a:t>3. Cobre o texto?</a:t>
            </a:r>
          </a:p>
          <a:p>
            <a:r>
              <a:rPr sz="1300">
                <a:solidFill>
                  <a:srgbClr val="222222"/>
                </a:solidFill>
              </a:rPr>
              <a:t>sobreposição horizontal ≥ 55% da largura → descarta decoração curta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3 testes verdadeiros → span marcado revoked=True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3891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Anatomia do span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48840"/>
            <a:ext cx="4114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topo (sublinhado: IGNORA)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468880"/>
            <a:ext cx="4114800" cy="91440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2514600"/>
            <a:ext cx="40233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texto do span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89520" y="2880360"/>
            <a:ext cx="3840480" cy="0"/>
          </a:xfrm>
          <a:prstGeom prst="line">
            <a:avLst/>
          </a:prstGeom>
          <a:ln w="25400">
            <a:solidFill>
              <a:srgbClr val="C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43800" y="2971800"/>
            <a:ext cx="40233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C02020"/>
                </a:solidFill>
                <a:latin typeface="Calibri"/>
              </a:rPr>
              <a:t>← banda 45% central = TACHADO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20440"/>
            <a:ext cx="4114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base (overline: IGNORA)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Caminho extra (digital): annotations com subtype=StrikeOut → atalho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escaneado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Sem geometria → Gemini Vision faz OCR + prompt: "trecho tachado deve aparecer como ~~texto~~"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→ Saída unificada: marcador ~~...~~ propaga até o prompt da LLM ("nunca trate como vigente")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Cortando o Texto em Pedaços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Por que e como dividir 50 páginas de lei em "trechos"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📖 A analogia do livro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94960" cy="1828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LLM não cabe um livro inteiro de uma vez.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Precisamos cortar em pedaços ("chunks").</a:t>
            </a:r>
          </a:p>
          <a:p>
            <a:pPr algn="l"/>
            <a:endParaRPr sz="1500" b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Como cortar?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577840" cy="1280160"/>
          </a:xfrm>
          <a:prstGeom prst="roundRect">
            <a:avLst/>
          </a:prstGeom>
          <a:solidFill>
            <a:srgbClr val="FFE8E8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C02020"/>
                </a:solidFill>
                <a:latin typeface="Calibri"/>
              </a:rPr>
              <a:t>✗ Jeito ingênuo: cortar a cada 500 palavras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521208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Corta no meio do Art. 5º. Metade fica num pedaço,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metade noutro. Resposta sai pela metade também.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577840" cy="137160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✓ Nosso jeito: cortar pela estrutura da lei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521208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Artigo / Parágrafo / Capítulo vira 1 pedaço.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Respeitamos como a lei foi escrita.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Exemplo de pedaço gerado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5394960" cy="32004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Etiquetas que viajam com o pedaço: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artigo? (Art. 12)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documento? (REN 1.000/2021)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página? (pg 4-5)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tabela? Sim/Não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trecho revogado? Sim/Não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48640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Quando a LLM responde, ela já sabe: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"isso veio do Art. 12 da REN 1.000/2021".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Citação automática e precisa.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Estratégia em 3 Níveis (Cascata)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Não é só regex, nem só recursivo — é os dois trabalhando juntos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Cada nível só entra em ação se o anterior não resolveu sozinho: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1247120" cy="1280160"/>
          </a:xfrm>
          <a:prstGeom prst="roundRect">
            <a:avLst/>
          </a:prstGeom>
          <a:solidFill>
            <a:srgbClr val="E6F0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965960"/>
            <a:ext cx="548640" cy="548640"/>
          </a:xfrm>
          <a:prstGeom prst="ellipse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20240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Cortar pela estrutura da lei (regex)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100584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Procura cabeçalhos: Art. 5º · § 1º · Capítulo II · Seção III · Título IV.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um deles começa um novo pedaço. Resultado: 1 artigo = 1 chunk.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46120"/>
            <a:ext cx="11247120" cy="141732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94360" y="3383280"/>
            <a:ext cx="548640" cy="548640"/>
          </a:xfrm>
          <a:prstGeom prst="ellipse">
            <a:avLst/>
          </a:prstGeom>
          <a:solidFill>
            <a:srgbClr val="C2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C26B00"/>
                </a:solidFill>
                <a:latin typeface="Calibri"/>
              </a:rPr>
              <a:t>SE o artigo for gigante (&gt;900 tokens) → janela deslizante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39"/>
            <a:ext cx="1005840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Alguns artigos têm 5+ páginas. Cortamos por parágrafos com sobreposição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de 100 tokens entre os pedaços — o final de um aparece no começo do próximo.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Assim o contexto não "se perde" entre chunks vizinhos.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00600"/>
            <a:ext cx="11247120" cy="128016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94360" y="4937760"/>
            <a:ext cx="548640" cy="548640"/>
          </a:xfrm>
          <a:prstGeom prst="ellipse">
            <a:avLst/>
          </a:prstGeom>
          <a:solidFill>
            <a:srgbClr val="22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892040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228844"/>
                </a:solidFill>
                <a:latin typeface="Calibri"/>
              </a:rPr>
              <a:t>SE sobrar pedaço minúsculo (&lt;60 tokens) → funde no anterior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303520"/>
            <a:ext cx="100584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Migalha tipo "§ 3º Revogado." não vale chunk próprio — vira ruído na busca.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Exceção: se contém tabela, mantém separado (tabelas não podem ser fundidas).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📌 Estrutura primeiro · tamanho depois — respeita como a lei foi escrita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49859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pt-BR" sz="3000" b="1" dirty="0" err="1">
                <a:solidFill>
                  <a:srgbClr val="1A4480"/>
                </a:solidFill>
                <a:latin typeface="Calibri"/>
              </a:rPr>
              <a:t>Embeddings</a:t>
            </a:r>
            <a:endParaRPr sz="3000" b="1" dirty="0">
              <a:solidFill>
                <a:srgbClr val="1A448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51474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 dirty="0">
                <a:solidFill>
                  <a:srgbClr val="1A4480"/>
                </a:solidFill>
                <a:latin typeface="Calibri"/>
              </a:rPr>
              <a:t>🧬 A </a:t>
            </a:r>
            <a:r>
              <a:rPr sz="2000" b="1" dirty="0" err="1">
                <a:solidFill>
                  <a:srgbClr val="1A4480"/>
                </a:solidFill>
                <a:latin typeface="Calibri"/>
              </a:rPr>
              <a:t>ideia</a:t>
            </a:r>
            <a:r>
              <a:rPr sz="2000" b="1" dirty="0">
                <a:solidFill>
                  <a:srgbClr val="1A4480"/>
                </a:solidFill>
                <a:latin typeface="Calibri"/>
              </a:rPr>
              <a:t>: </a:t>
            </a:r>
            <a:r>
              <a:rPr sz="2000" b="1" dirty="0" err="1">
                <a:solidFill>
                  <a:srgbClr val="1A4480"/>
                </a:solidFill>
                <a:latin typeface="Calibri"/>
              </a:rPr>
              <a:t>cada</a:t>
            </a:r>
            <a:r>
              <a:rPr sz="2000" b="1" dirty="0">
                <a:solidFill>
                  <a:srgbClr val="1A4480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A4480"/>
                </a:solidFill>
                <a:latin typeface="Calibri"/>
              </a:rPr>
              <a:t>trecho</a:t>
            </a:r>
            <a:r>
              <a:rPr sz="2000" b="1" dirty="0">
                <a:solidFill>
                  <a:srgbClr val="1A4480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A4480"/>
                </a:solidFill>
                <a:latin typeface="Calibri"/>
              </a:rPr>
              <a:t>vira</a:t>
            </a:r>
            <a:r>
              <a:rPr sz="2000" b="1" dirty="0">
                <a:solidFill>
                  <a:srgbClr val="1A4480"/>
                </a:solidFill>
                <a:latin typeface="Calibri"/>
              </a:rPr>
              <a:t> um "DNA </a:t>
            </a:r>
            <a:r>
              <a:rPr sz="2000" b="1" dirty="0" err="1">
                <a:solidFill>
                  <a:srgbClr val="1A4480"/>
                </a:solidFill>
                <a:latin typeface="Calibri"/>
              </a:rPr>
              <a:t>numérico</a:t>
            </a:r>
            <a:r>
              <a:rPr sz="2000" b="1" dirty="0">
                <a:solidFill>
                  <a:srgbClr val="1A4480"/>
                </a:solidFill>
                <a:latin typeface="Calibri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27297"/>
            <a:ext cx="10972800" cy="72943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pt-BR" sz="1500" b="0" dirty="0">
                <a:solidFill>
                  <a:srgbClr val="222222"/>
                </a:solidFill>
                <a:latin typeface="Calibri"/>
              </a:rPr>
              <a:t>O modelo de </a:t>
            </a:r>
            <a:r>
              <a:rPr lang="pt-BR" sz="1500" b="0" dirty="0" err="1">
                <a:solidFill>
                  <a:srgbClr val="222222"/>
                </a:solidFill>
                <a:latin typeface="Calibri"/>
              </a:rPr>
              <a:t>embeddings</a:t>
            </a:r>
            <a:r>
              <a:rPr lang="pt-BR" sz="1500" b="0" dirty="0">
                <a:solidFill>
                  <a:srgbClr val="222222"/>
                </a:solidFill>
                <a:latin typeface="Calibri"/>
              </a:rPr>
              <a:t> gera um vetor 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1024 </a:t>
            </a:r>
            <a:r>
              <a:rPr lang="pt-BR" sz="1500" b="0" dirty="0">
                <a:solidFill>
                  <a:srgbClr val="222222"/>
                </a:solidFill>
                <a:latin typeface="Calibri"/>
              </a:rPr>
              <a:t>dimensões.</a:t>
            </a:r>
          </a:p>
          <a:p>
            <a:pPr algn="l"/>
            <a:endParaRPr sz="15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500" b="0" dirty="0" err="1">
                <a:solidFill>
                  <a:srgbClr val="222222"/>
                </a:solidFill>
                <a:latin typeface="Calibri"/>
              </a:rPr>
              <a:t>Computador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consegue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 "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buscar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 por 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significado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", 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não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só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 por </a:t>
            </a:r>
            <a:r>
              <a:rPr sz="1500" b="0" dirty="0" err="1">
                <a:solidFill>
                  <a:srgbClr val="222222"/>
                </a:solidFill>
                <a:latin typeface="Calibri"/>
              </a:rPr>
              <a:t>palavra-chave</a:t>
            </a:r>
            <a:r>
              <a:rPr sz="1500" b="0" dirty="0">
                <a:solidFill>
                  <a:srgbClr val="222222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1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017521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🎯 Busca por significado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512064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 err="1">
                <a:solidFill>
                  <a:srgbClr val="222222"/>
                </a:solidFill>
                <a:latin typeface="Calibri"/>
              </a:rPr>
              <a:t>Pergunta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: "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prazo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revisão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tarifária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"</a:t>
            </a:r>
          </a:p>
          <a:p>
            <a:pPr algn="l"/>
            <a:r>
              <a:rPr sz="1400" b="0" dirty="0" err="1">
                <a:solidFill>
                  <a:srgbClr val="222222"/>
                </a:solidFill>
                <a:latin typeface="Calibri"/>
              </a:rPr>
              <a:t>Encontra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: "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período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da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reanálise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das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tarifas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"</a:t>
            </a:r>
          </a:p>
          <a:p>
            <a:pPr algn="l"/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 err="1">
                <a:solidFill>
                  <a:srgbClr val="222222"/>
                </a:solidFill>
                <a:latin typeface="Calibri"/>
              </a:rPr>
              <a:t>Mesmo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sem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palavras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iguais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880361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3017521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🔤 Busca por palavra-chave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474720"/>
            <a:ext cx="512064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 menciona "REN 1.000"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Encontra trechos com exatamente "REN 1.000".</a:t>
            </a:r>
          </a:p>
          <a:p>
            <a:pPr algn="l"/>
            <a:endParaRPr sz="1400" b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Bom pra termos técnicos e nomes próprios.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📦 Onde guardamos: Qdrant — banco de dados especializado em vetores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Roda local (Docker), grátis. Permite filtrar por ano, documento, situação.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Encontrar o Trecho 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3 "investigadores" trabalham juntos pra achar a melhor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828800" cy="64008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46304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</a:rPr>
              <a:t>🎯 </a:t>
            </a:r>
            <a:r>
              <a:rPr sz="1300" b="1" dirty="0" err="1">
                <a:solidFill>
                  <a:srgbClr val="FFFFFF"/>
                </a:solidFill>
              </a:rPr>
              <a:t>Investigador</a:t>
            </a:r>
            <a:r>
              <a:rPr sz="1300" b="1" dirty="0">
                <a:solidFill>
                  <a:srgbClr val="FFFFFF"/>
                </a:solidFill>
              </a:rPr>
              <a:t> 1</a:t>
            </a:r>
          </a:p>
          <a:p>
            <a:pPr algn="ctr"/>
            <a:r>
              <a:rPr sz="1000" dirty="0" err="1">
                <a:solidFill>
                  <a:srgbClr val="FFFFFF"/>
                </a:solidFill>
              </a:rPr>
              <a:t>busca</a:t>
            </a:r>
            <a:r>
              <a:rPr sz="1000" dirty="0">
                <a:solidFill>
                  <a:srgbClr val="FFFFFF"/>
                </a:solidFill>
              </a:rPr>
              <a:t> por </a:t>
            </a:r>
            <a:r>
              <a:rPr sz="1000" dirty="0" err="1">
                <a:solidFill>
                  <a:srgbClr val="FFFFFF"/>
                </a:solidFill>
              </a:rPr>
              <a:t>significado</a:t>
            </a:r>
            <a:endParaRPr sz="1000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834640" y="251460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🔤 Investigador 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palavra-chave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56616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🔢 Investigador 3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número da norma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14600"/>
            <a:ext cx="219456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🤝 Vota junto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combina os 3 rankings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514600"/>
            <a:ext cx="182880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</a:rPr>
              <a:t>⚖ Juiz final</a:t>
            </a:r>
          </a:p>
          <a:p>
            <a:pPr algn="ctr"/>
            <a:r>
              <a:rPr sz="1000" dirty="0" err="1">
                <a:solidFill>
                  <a:srgbClr val="FFFFFF"/>
                </a:solidFill>
              </a:rPr>
              <a:t>reordena</a:t>
            </a:r>
            <a:r>
              <a:rPr sz="1000" dirty="0">
                <a:solidFill>
                  <a:srgbClr val="FFFFFF"/>
                </a:solidFill>
              </a:rPr>
              <a:t> top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0" y="2514600"/>
            <a:ext cx="822960" cy="777240"/>
          </a:xfrm>
          <a:prstGeom prst="roundRect">
            <a:avLst/>
          </a:prstGeom>
          <a:solidFill>
            <a:srgbClr val="33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</a:rPr>
              <a:t>Top </a:t>
            </a:r>
            <a:r>
              <a:rPr lang="pt-BR" sz="1300" b="1" dirty="0">
                <a:solidFill>
                  <a:srgbClr val="FFFFFF"/>
                </a:solidFill>
              </a:rPr>
              <a:t>5</a:t>
            </a:r>
            <a:endParaRPr sz="1300" b="1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Por que 3 investigadores?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Cada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um é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bom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em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algo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diferente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—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combinar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é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melhor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que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escolher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um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só</a:t>
            </a:r>
            <a:endParaRPr sz="1400" dirty="0">
              <a:solidFill>
                <a:srgbClr val="222222"/>
              </a:solidFill>
              <a:latin typeface="Calibri"/>
            </a:endParaRPr>
          </a:p>
          <a:p>
            <a:pPr lvl="1">
              <a:spcAft>
                <a:spcPts val="400"/>
              </a:spcAft>
            </a:pPr>
            <a:r>
              <a:rPr sz="1200" dirty="0">
                <a:solidFill>
                  <a:srgbClr val="222222"/>
                </a:solidFill>
                <a:latin typeface="Calibri"/>
              </a:rPr>
              <a:t>–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Significado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pega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"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prazo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revisão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"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mesmo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se o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texto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diz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"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período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da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reanálise</a:t>
            </a:r>
            <a:r>
              <a:rPr sz="1200" dirty="0">
                <a:solidFill>
                  <a:srgbClr val="222222"/>
                </a:solidFill>
                <a:latin typeface="Calibri"/>
              </a:rPr>
              <a:t>"</a:t>
            </a:r>
          </a:p>
          <a:p>
            <a:pPr lvl="1">
              <a:spcAft>
                <a:spcPts val="400"/>
              </a:spcAft>
            </a:pPr>
            <a:r>
              <a:rPr sz="1200" dirty="0">
                <a:solidFill>
                  <a:srgbClr val="222222"/>
                </a:solidFill>
                <a:latin typeface="Calibri"/>
              </a:rPr>
              <a:t>–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Palavra-chave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pega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termos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técnicos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exatos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como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"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bandeira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tarifária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"</a:t>
            </a:r>
          </a:p>
          <a:p>
            <a:pPr lvl="1">
              <a:spcAft>
                <a:spcPts val="400"/>
              </a:spcAft>
            </a:pPr>
            <a:r>
              <a:rPr sz="1200" dirty="0">
                <a:solidFill>
                  <a:srgbClr val="222222"/>
                </a:solidFill>
                <a:latin typeface="Calibri"/>
              </a:rPr>
              <a:t>–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Número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norma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pega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"REN 1.000/2021"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direto</a:t>
            </a:r>
            <a:r>
              <a:rPr sz="1200" dirty="0">
                <a:solidFill>
                  <a:srgbClr val="222222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sem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depender</a:t>
            </a:r>
            <a:r>
              <a:rPr sz="12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222222"/>
                </a:solidFill>
                <a:latin typeface="Calibri"/>
              </a:rPr>
              <a:t>contexto</a:t>
            </a:r>
            <a:endParaRPr sz="1200" dirty="0">
              <a:solidFill>
                <a:srgbClr val="222222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222222"/>
                </a:solidFill>
                <a:latin typeface="Calibri"/>
              </a:rPr>
              <a:t>• Juiz final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reordena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com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modelo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mais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preciso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→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garante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que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os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6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melhores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ficam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no topo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Resposta e Como Sabemos Se Está Boa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LLM monta a resposta · gabarito mede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💬 Como a resposta é montada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212080" cy="1760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1.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Pegamos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os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pt-BR" sz="1400" b="0" dirty="0">
                <a:solidFill>
                  <a:srgbClr val="222222"/>
                </a:solidFill>
                <a:latin typeface="Calibri"/>
              </a:rPr>
              <a:t>k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melhores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trechos</a:t>
            </a:r>
            <a:endParaRPr lang="pt-BR" sz="14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2.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Entregamos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pra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LLM (Gemini) com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regras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:</a:t>
            </a: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    – cite a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fonte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cada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afirmação</a:t>
            </a:r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    – ignore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texto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revogado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(~~...~~)</a:t>
            </a: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    – se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não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souber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diga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"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não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consta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"</a:t>
            </a:r>
            <a:endParaRPr lang="pt-BR" sz="14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sz="14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sz="1400" b="0" dirty="0">
                <a:solidFill>
                  <a:srgbClr val="222222"/>
                </a:solidFill>
                <a:latin typeface="Calibri"/>
              </a:rPr>
              <a:t>3. LLM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gera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resposta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lista</a:t>
            </a:r>
            <a:r>
              <a:rPr sz="1400" b="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222222"/>
                </a:solidFill>
                <a:latin typeface="Calibri"/>
              </a:rPr>
              <a:t>citações</a:t>
            </a:r>
            <a:endParaRPr sz="1400" b="0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🎚 Temperatura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39496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responde de forma determinística — mesma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pergunta, mesma resposta. Sem criatividade.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Em direito não queremos LLM "inventando".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📏 Como medimos qualidade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39496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Criamos um "gabarito" — lista de perguntas com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as respostas corretas anotadas pelo especialista.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Achou o documento certo? (Hit@k)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Citou o artigo certo?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O número/prazo está exato?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 resposta cobre o que o gabarito diz?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Quando não tem informação, ela recusa?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Quanto tempo levou?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→ Outra LLM atua como "juiz" comparando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    resposta nossa × resposta do gabarito.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Que Funcionou e o Que Foi Trocado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Decisões importantes em linguagem simples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228844"/>
                </a:solidFill>
                <a:latin typeface="Calibri"/>
              </a:rPr>
              <a:t>✓ Acertos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Decisor por página economizou ~93% do custo de OCR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Cortar texto pelos artigos da lei melhorou muito as citações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Pipeline retoma do ponto onde parou se cair — sem refazer do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C26B00"/>
                </a:solidFill>
                <a:latin typeface="Calibri"/>
              </a:rPr>
              <a:t>⚖ Escolhas conscientes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Pagamos a LLM (Vertex AI) em vez de usar gratuita — confiabilidade vale mais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Reranker pago é mais rápido e preciso, mas tem limite de chamadas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Banco de controle simples (sqlite) — basta pra esse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Ferramentas Usadas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etapa, qual ferramenta e pra que serve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043225"/>
              </p:ext>
            </p:extLst>
          </p:nvPr>
        </p:nvGraphicFramePr>
        <p:xfrm>
          <a:off x="365760" y="1188720"/>
          <a:ext cx="114299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6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6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5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Ferramenta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Pra que serve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Baixar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curl_cffi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Disfarça de navegador pra passar pelo Cloudflare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normal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PyMuPDF + pdfplumber + Camelot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Tira texto e tabelas direto do PDF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escaneado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LLM "olha" a página e transcreve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lang="pt-BR"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Chunk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Cascata (</a:t>
                      </a:r>
                      <a:r>
                        <a:rPr lang="pt-BR"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Regex</a:t>
                      </a:r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 + Janela deslizante + fusão)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Quebra pelos artigos da lei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Modelo de </a:t>
                      </a:r>
                      <a:r>
                        <a:rPr lang="pt-BR"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embedding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BGE-M3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Vira números pra busca por significado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BD VETORIAL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Qdrant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Guarda os números e busca rápido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Encontrar trechos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222222"/>
                          </a:solidFill>
                          <a:latin typeface="Calibri"/>
                        </a:rPr>
                        <a:t>3 </a:t>
                      </a:r>
                      <a:r>
                        <a:rPr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buscas</a:t>
                      </a:r>
                      <a:r>
                        <a:rPr sz="1200" dirty="0">
                          <a:solidFill>
                            <a:srgbClr val="222222"/>
                          </a:solidFill>
                          <a:latin typeface="Calibri"/>
                        </a:rPr>
                        <a:t> + </a:t>
                      </a:r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RRF + </a:t>
                      </a:r>
                      <a:r>
                        <a:rPr lang="pt-BR"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Reranker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Acha</a:t>
                      </a:r>
                      <a:r>
                        <a:rPr sz="1200" dirty="0">
                          <a:solidFill>
                            <a:srgbClr val="222222"/>
                          </a:solidFill>
                          <a:latin typeface="Calibri"/>
                        </a:rPr>
                        <a:t> </a:t>
                      </a:r>
                      <a:r>
                        <a:rPr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os</a:t>
                      </a:r>
                      <a:r>
                        <a:rPr sz="1200" dirty="0">
                          <a:solidFill>
                            <a:srgbClr val="222222"/>
                          </a:solidFill>
                          <a:latin typeface="Calibri"/>
                        </a:rPr>
                        <a:t> </a:t>
                      </a:r>
                      <a:r>
                        <a:rPr lang="pt-BR" sz="1200" dirty="0">
                          <a:solidFill>
                            <a:srgbClr val="222222"/>
                          </a:solidFill>
                          <a:latin typeface="Calibri"/>
                        </a:rPr>
                        <a:t>K</a:t>
                      </a:r>
                      <a:r>
                        <a:rPr sz="1200" dirty="0">
                          <a:solidFill>
                            <a:srgbClr val="222222"/>
                          </a:solidFill>
                          <a:latin typeface="Calibri"/>
                        </a:rPr>
                        <a:t> </a:t>
                      </a:r>
                      <a:r>
                        <a:rPr sz="1200" dirty="0" err="1">
                          <a:solidFill>
                            <a:srgbClr val="222222"/>
                          </a:solidFill>
                          <a:latin typeface="Calibri"/>
                        </a:rPr>
                        <a:t>melhores</a:t>
                      </a:r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Gerar resposta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Lê os trechos e responde com citação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dirty="0">
                        <a:solidFill>
                          <a:srgbClr val="222222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1A4480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1810</Words>
  <Application>Microsoft Office PowerPoint</Application>
  <PresentationFormat>Widescreen</PresentationFormat>
  <Paragraphs>252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Gustavo Barros</cp:lastModifiedBy>
  <cp:revision>2</cp:revision>
  <dcterms:created xsi:type="dcterms:W3CDTF">2013-01-27T09:14:16Z</dcterms:created>
  <dcterms:modified xsi:type="dcterms:W3CDTF">2026-04-27T13:04:29Z</dcterms:modified>
  <cp:category/>
</cp:coreProperties>
</file>
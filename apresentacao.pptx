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RAG sobre Legislação ANEEL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Pipeline end-to-end de ingestão, parsing e Q&amp;A jurídico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Desafio CEIA  ·  27 mil PDFs  ·  6 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O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Construir um "assistente" que responde sobre legislação ANEEL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Imagine a cena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27 mil PDFs de leis do setor elétrico (2016 / 2021 / 2022)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Um especialista faz perguntas técnicas — "qual o prazo da revisão tarifária?"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Sistema precisa achar a resposta certa, citando a fonte exata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⚖ Precisão absoluta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26280"/>
            <a:ext cx="33832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Lei errada = problema real. Não pode inventar nem chutar.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406908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📋 Documentos complexos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526280"/>
            <a:ext cx="33832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Tabelas, artigos revogados, páginas escaneadas — tudo misturado.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406908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⏱ Pouco tempo, pouco dinheiro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4526280"/>
            <a:ext cx="33832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6 dias. Solução cara (OCR + LLM em tudo) custaria centenas de dólares.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4480"/>
                </a:solidFill>
                <a:latin typeface="Calibri"/>
              </a:rPr>
              <a:t>→ Solução: pipeline esperto que escolhe a ferramenta certa pra cada página.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A Linha de 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Cada PDF passa por 6 etapas até virar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1. Baixar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536192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Pegar todos os PDFs do site da ANEEL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67128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2. Classificar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33172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Ler é fácil ou vai precisar "olho humano"?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3. Extrair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127248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Tirar o conteúdo do PDF → texto puro + tabelas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58184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4. Cortar em pedaços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922776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Quebrar texto longo em "trechos" de tamanho útil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53712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5. Indexar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4718304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Transformar texto em números → guardar em "banco de busca"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49240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6. Responder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513832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Buscar trechos relevantes → LLM monta a resposta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Baixar e "Ler" os PDFs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Como tirar o texto de 27 mil documentos sem gastar fortuna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🌐 Download — Cloudflare bloqueia bots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Site da ANEEL inspeciona JA3 (TLS fingerprint)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requests / httpx → 403. curl_cffi com impersonate=chrome resolve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Async com 16 conexões paralelas + retry exponencial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🧠 Router por página (não por doc)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Cada página classificada via PyMuPDF antes do parse: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  <a:latin typeface="Calibri"/>
              </a:rPr>
              <a:t>– digital → texto extraível direto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  <a:latin typeface="Calibri"/>
              </a:rPr>
              <a:t>– scanned → poucos chars + alta razão de imagem → vision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222222"/>
                </a:solidFill>
                <a:latin typeface="Calibri"/>
              </a:rPr>
              <a:t>– complex → tabelas detectadas → Camelot ou vision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Decisão por página: doc misto é a regra, não exceção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Fast vs Slow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91640"/>
            <a:ext cx="5303520" cy="201168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28844"/>
                </a:solidFill>
                <a:latin typeface="Calibri"/>
              </a:rPr>
              <a:t>✓ Fast path (~95% das páginas)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40280"/>
            <a:ext cx="502920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PyMuPDF → texto + bbox dos spans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pdfplumber → tabelas simples (markdown)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Camelot → tabelas com bordas (lattice)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Custo: 0 · totalmente 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40480"/>
            <a:ext cx="5303520" cy="2011680"/>
          </a:xfrm>
          <a:prstGeom prst="roundRect">
            <a:avLst/>
          </a:prstGeom>
          <a:solidFill>
            <a:srgbClr val="FFF0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C26B00"/>
                </a:solidFill>
                <a:latin typeface="Calibri"/>
              </a:rPr>
              <a:t>⚠ Slow path (~5% das páginas)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389120"/>
            <a:ext cx="502920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Gemini 2.5 Flash via Vertex AI (multimodal)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Render 180 DPI → prompt que exige ~~tachado~~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thinking_budget=0 → custo de input ~$0,15/M tokens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Fallback: gemini-2.5-flash-lite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💰 Vision em 100% das páginas: ~$300+ · com router por página: ~$22 · ~93% de economia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Texto Revogado (Strikethrough)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O que é e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O que 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6675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Calibri"/>
              </a:rPr>
              <a:t>Texto cortado por linha horizontal: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6675120" cy="8229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800">
                <a:solidFill>
                  <a:srgbClr val="222222"/>
                </a:solidFill>
              </a:rPr>
              <a:t>Art. 5º A distribuidora </a:t>
            </a:r>
            <a:r>
              <a:rPr sz="1800">
                <a:solidFill>
                  <a:srgbClr val="B02020"/>
                </a:solidFill>
              </a:rPr>
              <a:t>deve apresentar plano em 30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Em legislação ANEEL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675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Indica artigo revogado por norma posterior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Texto continua impresso (rastreabilidade)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Mas não vale mais como norma vigente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280160"/>
            <a:ext cx="4023360" cy="4937760"/>
          </a:xfrm>
          <a:prstGeom prst="roundRect">
            <a:avLst/>
          </a:prstGeom>
          <a:solidFill>
            <a:srgbClr val="FFF4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417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C26B00"/>
                </a:solidFill>
                <a:latin typeface="Calibri"/>
              </a:rPr>
              <a:t>⚠ Por que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9202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LLM lê tachado como vigente → resposta errada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Especialista do setor detecta erro instantâneo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Legislação tem zero tolerância a erro citacional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Campo "situacao" do metadado descreve o doc inteiro, não trechos internos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A4480"/>
                </a:solidFill>
                <a:latin typeface="Calibri"/>
              </a:rPr>
              <a:t>Problema: PDF não armazena flag "isto é tachado". Texto e linha são camadas separadas — preciso cruzar.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Como Detectamos o Strikethrough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Cruzar geometria de texto × linhas desenhadas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PDF digital — 3 testes geométricos por span de texto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600" b="1">
                <a:solidFill>
                  <a:srgbClr val="1A4480"/>
                </a:solidFill>
              </a:rPr>
              <a:t>1. É linha mesmo?</a:t>
            </a:r>
          </a:p>
          <a:p>
            <a:r>
              <a:rPr sz="1300">
                <a:solidFill>
                  <a:srgbClr val="222222"/>
                </a:solidFill>
              </a:rPr>
              <a:t>horizontal fina (≤1.2px) e comprida (&gt;4px) — descarta ruído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600" b="1">
                <a:solidFill>
                  <a:srgbClr val="1A4480"/>
                </a:solidFill>
              </a:rPr>
              <a:t>2. Cai no MEIO do texto?</a:t>
            </a:r>
          </a:p>
          <a:p>
            <a:r>
              <a:rPr sz="1300">
                <a:solidFill>
                  <a:srgbClr val="222222"/>
                </a:solidFill>
              </a:rPr>
              <a:t>centro da linha na banda 45% central → descarta sublinhado/overline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2900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600" b="1">
                <a:solidFill>
                  <a:srgbClr val="1A4480"/>
                </a:solidFill>
              </a:rPr>
              <a:t>3. Cobre o texto?</a:t>
            </a:r>
          </a:p>
          <a:p>
            <a:r>
              <a:rPr sz="1300">
                <a:solidFill>
                  <a:srgbClr val="222222"/>
                </a:solidFill>
              </a:rPr>
              <a:t>sobreposição horizontal ≥ 55% da largura → descarta decoração curta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3 testes verdadeiros → span marcado revoked=True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3891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1783080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4480"/>
                </a:solidFill>
                <a:latin typeface="Calibri"/>
              </a:rPr>
              <a:t>Anatomia do span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1488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─── topo (sublinhado: IGNORA)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468880"/>
            <a:ext cx="4114800" cy="91440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5146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texto do span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89520" y="2880360"/>
            <a:ext cx="3840480" cy="0"/>
          </a:xfrm>
          <a:prstGeom prst="line">
            <a:avLst/>
          </a:prstGeom>
          <a:ln w="25400">
            <a:solidFill>
              <a:srgbClr val="C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43800" y="29718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02020"/>
                </a:solidFill>
                <a:latin typeface="Calibri"/>
              </a:rPr>
              <a:t>← banda 45% central = TACHADO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5204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─── base (overline: IGNORA)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Caminho extra (digital): annotations com subtype=StrikeOut → atalho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PDF escaneado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Sem geometria → Gemini Vision faz OCR + prompt: "trecho tachado deve aparecer como ~~texto~~"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→ Saída unificada: marcador ~~...~~ propaga até o prompt da LLM ("nunca trate como vigente")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Cortando o Texto em Pedaços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Por que e como dividir 50 páginas de lei em "trechos"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📖 A analogia do livro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9496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LLM não cabe um livro inteiro de uma vez.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Precisamos cortar em pedaços ("chunks").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Como cortar?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57600"/>
            <a:ext cx="5577840" cy="1280160"/>
          </a:xfrm>
          <a:prstGeom prst="roundRect">
            <a:avLst/>
          </a:prstGeom>
          <a:solidFill>
            <a:srgbClr val="FFE8E8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C02020"/>
                </a:solidFill>
                <a:latin typeface="Calibri"/>
              </a:rPr>
              <a:t>✗ Jeito ingênuo: cortar a cada 500 palavras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52120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Corta no meio do Art. 5º. Metade fica num pedaço,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metade noutro. Resposta sai pela metade também.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74920"/>
            <a:ext cx="5577840" cy="137160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✓ Nosso jeito: cortar pela estrutura da lei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52120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Cada Artigo / Parágrafo / Capítulo vira 1 pedaço.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Respeitamos como a lei foi escrita.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Payload propagado por chunk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783080"/>
            <a:ext cx="5394960" cy="32918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4480"/>
                </a:solidFill>
                <a:latin typeface="Calibri"/>
              </a:rPr>
              <a:t>Metadados indexados no Qdrant: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article_ref (Art. 12)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doc_id, arquivo, ano, autor, situacao_doc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page_start, page_end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has_table, has_revoked (booleanos)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ementa, assunto, publicacao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212080"/>
            <a:ext cx="54864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Permite filtros estruturados na query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(ex: ano=2021 AND has_revoked=false) +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citação automática [doc_id | art. X].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Estratégia em 3 Níveis (Cascata)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Não é só regex, nem só recursivo — é os dois trabalhando juntos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Cada nível só entra em ação se o anterior não resolveu sozinho: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1247120" cy="1280160"/>
          </a:xfrm>
          <a:prstGeom prst="roundRect">
            <a:avLst/>
          </a:prstGeom>
          <a:solidFill>
            <a:srgbClr val="E6F0FF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965960"/>
            <a:ext cx="548640" cy="548640"/>
          </a:xfrm>
          <a:prstGeom prst="ellipse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A4480"/>
                </a:solidFill>
                <a:latin typeface="Calibri"/>
              </a:rPr>
              <a:t>Split estrutural por hierarquia legal (regex)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3172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Cabeçalhos: Art. X · § N · Capítulo (romano) · Seção · Título.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1 artigo = 1 chunk · article_ref propaga como metadado pra citação.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46120"/>
            <a:ext cx="11247120" cy="1417320"/>
          </a:xfrm>
          <a:prstGeom prst="roundRect">
            <a:avLst/>
          </a:prstGeom>
          <a:solidFill>
            <a:srgbClr val="FFF4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3383280"/>
            <a:ext cx="548640" cy="548640"/>
          </a:xfrm>
          <a:prstGeom prst="ellipse">
            <a:avLst/>
          </a:prstGeom>
          <a:solidFill>
            <a:srgbClr val="C2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C26B00"/>
                </a:solidFill>
                <a:latin typeface="Calibri"/>
              </a:rPr>
              <a:t>SE bloco &gt; 900 tokens → sliding window com overlap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49039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Limite de 900 escolhido pra caber confortável no max_length=1024 do BGE-M3.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Quebra por parágrafo (\n\n) preservando coerência · overlap 100 tokens evita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perda de contexto na fronteira entre chunks vizinhos.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00600"/>
            <a:ext cx="11247120" cy="128016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4937760"/>
            <a:ext cx="548640" cy="548640"/>
          </a:xfrm>
          <a:prstGeom prst="ellipse">
            <a:avLst/>
          </a:prstGeom>
          <a:solidFill>
            <a:srgbClr val="22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8920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28844"/>
                </a:solidFill>
                <a:latin typeface="Calibri"/>
              </a:rPr>
              <a:t>SE chunk &lt; 60 tokens → merge no anterior (exceto se has_table=true)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30352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Migalhas ("§ 3º Revogado.") inflam o índice e atrapalham reranker.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Tabelas mantêm chunk próprio · merge atualiza page_end e has_revoked.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A4480"/>
                </a:solidFill>
                <a:latin typeface="Calibri"/>
              </a:rPr>
              <a:t>📌 Estrutura primeiro · tamanho depois — respeita como a lei foi escrita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Transformando Texto em "Coordenadas"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Como o computador entende o significado de um trecho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🧬 Modelo de embedding: BGE-M3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Cada trecho vira vetor de 1024 dimensões + vetor esparso lexical.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Um único modelo entrega os dois — sem rodar BM25 separado.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43200"/>
            <a:ext cx="5669280" cy="22860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4480"/>
                </a:solidFill>
                <a:latin typeface="Calibri"/>
              </a:rPr>
              <a:t>Vetor denso (1024d, cosine)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303520" cy="1737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Captura significado.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"prazo de revisão" ≈ "período de reanálise".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Distância: cosseno · normalizado.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5486400" cy="22860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3464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4480"/>
                </a:solidFill>
                <a:latin typeface="Calibri"/>
              </a:rPr>
              <a:t>Vetor esparso (lexical)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5120640" cy="1737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Captura termos exatos.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"REN 1.000", "bandeira tarifária", siglas.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Substitui BM25 — nativo no Qdrant.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A4480"/>
                </a:solidFill>
                <a:latin typeface="Calibri"/>
              </a:rPr>
              <a:t>Decisões: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BGE-M3 escolhido por: multilíngue forte em PT-BR · 8K tokens de contexto · dense+sparse no mesmo modelo · roda local (custo zero)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Qdrant escolhido por: named vectors nativos (dense + sparse na mesma coleção) · filtros estruturados (ano, doc_id, has_table) · open-source · Docker local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Retriever Híbrido com RRF + Rerank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3 fontes de busca → fusão → reordenação → top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1828800" cy="640080"/>
          </a:xfrm>
          <a:prstGeom prst="round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Pergunta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41732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Dense (BGE-M3)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top 40 por cosseno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46888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Sparse (BGE-M3)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top 40 lexical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52044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Identifier lookup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regex nº+ano em arquivo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68880"/>
            <a:ext cx="2194560" cy="777240"/>
          </a:xfrm>
          <a:prstGeom prst="round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RRF (k=60)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fusão de rankings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2468880"/>
            <a:ext cx="2011680" cy="777240"/>
          </a:xfrm>
          <a:prstGeom prst="round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Reranker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Cohere v3 / BGE-v2-m3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155680" y="2468880"/>
            <a:ext cx="640080" cy="777240"/>
          </a:xfrm>
          <a:prstGeom prst="roundRect">
            <a:avLst/>
          </a:prstGeom>
          <a:solidFill>
            <a:srgbClr val="33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Top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17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4480"/>
                </a:solidFill>
                <a:latin typeface="Calibri"/>
              </a:rPr>
              <a:t>Decisões-chave: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RRF (Reciprocal Rank Fusion) em vez de pesos fixos: combina rankings sem tuning manual; robusto a escalas diferentes (cosseno vs lexical)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Identifier lookup como 3ª fonte: regex extrai "REN 1.000/2021" da query e busca direto no campo arquivo — pergunta por nº de norma não pode depender só de embedding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Hard filter: se identifier match ≤ 3 docs, descarta dense/sparse e busca só dentro deles (evita ruído)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Reranker cross-encoder reordena top 20 → top 6: cohere-rerank-v3 (API) ou BGE-reranker-v2-m3 (local) como fallback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Penalty 0.85 em chunks de ementa (page_start=0): metadados não são conteúdo legal — não devem dominar topo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Resposta e Como Sabemos Se Está Boa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LLM monta a resposta · gabarito mede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💬 Como a resposta é montada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577840" cy="22860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521208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Modelo: Gemini 2.5 Flash (Vertex AI)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1. Top-6 chunks viram contexto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2. System prompt impõe: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– citação [doc_id | art. X] obrigatória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– tratar ~~...~~ como revogado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    – "não consta" quando ausente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3. Saída: resposta + payload de citações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Decisões da geração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temperature=0 + thinking_budget=0 → resposta determinística e barata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Gemini 2.5 Flash sobre Pro: latência 3-4× menor, qualidade suficiente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Fallback automático para gemini-2.5-flash-lite em erro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Avaliação — benchmark anotado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691640"/>
            <a:ext cx="539496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Gold JSONL com expected_doc_ids, expected_articles,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numeric_facts, must_contain, should_refuse.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060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Retrieval: Hit@k · Recall@k · Precision@k · nDCG@k · MRR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Citation-F1 (regex normaliza nº+ano)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Numeric exactness (tolerância em valores)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Refusal correctness (detecta "não consta")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LLM-as-judge: faithfulness · correctness · completeness · critical_error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Latência p50/p95 separadas (retrieval vs geração)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  <a:latin typeface="Calibri"/>
              </a:rPr>
              <a:t>• Bootstrap CI 95% — comparação estatística entre versões do retriever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O Que Funcionou e o Que Foi Trocado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Decisões importantes em linguagem simples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228844"/>
                </a:solidFill>
                <a:latin typeface="Calibri"/>
              </a:rPr>
              <a:t>✓ Acertos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Decisor por página economizou ~93% do custo de OCR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Cortar texto pelos artigos da lei melhorou muito as citações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Pipeline retoma do ponto onde parou se cair — sem refazer do 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26B00"/>
                </a:solidFill>
                <a:latin typeface="Calibri"/>
              </a:rPr>
              <a:t>⚖ Escolhas conscientes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Pagamos a LLM (Vertex AI) em vez de usar gratuita — confiabilidade vale mais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Reranker pago é mais rápido e preciso, mas tem limite de chamadas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Banco de controle simples (sqlite) — basta pra esse projeto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🚀 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Testar variações de tamanho de chunk · LLM reescrevendo a pergunta antes de buscar · cache de buscas frequentes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Ferramentas Usadas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Cada etapa, qual ferramenta e pra que serve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299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7692"/>
                <a:gridCol w="3516923"/>
                <a:gridCol w="5275384"/>
              </a:tblGrid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Ferramenta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Pra que serve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Baixar PDFs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curl_cffi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Disfarça de navegador pra passar pelo Cloudflare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Ler PDF normal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PyMuPDF + pdfplumber + Camelot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Tira texto e tabelas direto do PDF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Ler PDF escaneado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LLM "olha" a página e transcreve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Cortar em pedaços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Lógica própria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Quebra pelos artigos da lei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DNA do 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BGE-M3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Vira números pra busca por significado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Banco de busca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Qdrant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Guarda os números e busca rápido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Encontrar trechos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 buscas + fusão + juiz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Acha os 6 melhores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Gerar resposta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Gemini 2.5 Flash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Lê os trechos e responde com citação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Avaliar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Gabarito + outra LLM como juiz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Mede se a resposta está boa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1">
                <a:solidFill>
                  <a:srgbClr val="1A4480"/>
                </a:solidFill>
                <a:latin typeface="Calibri"/>
              </a:rP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
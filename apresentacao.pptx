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RAG sobre Legislação ANEEL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Pipeline end-to-end de ingestão, parsing e Q&amp;A jurídico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Desafio CEIA  ·  27 mil PDFs  ·  6 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Construir um "assistente" que responde sobre legislação ANEEL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A4480"/>
                </a:solidFill>
                <a:latin typeface="Calibri"/>
              </a:rPr>
              <a:t>Imagine a cena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27 mil PDFs de leis do setor elétrico (2016 / 2021 / 2022)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Um especialista faz perguntas técnicas — "qual o prazo da revisão tarifária?"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Sistema precisa achar a resposta certa, citando a fonte exata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3657600" cy="182880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A4480"/>
                </a:solidFill>
                <a:latin typeface="Calibri"/>
              </a:rPr>
              <a:t>⚖ Precisão absoluta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80"/>
            <a:ext cx="33832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Lei errada = problema real. Não pode inventar nem chutar.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657600" cy="182880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40690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A4480"/>
                </a:solidFill>
                <a:latin typeface="Calibri"/>
              </a:rPr>
              <a:t>📋 Documentos complexos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526280"/>
            <a:ext cx="33832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Tabelas, artigos revogados, páginas escaneadas — tudo misturado.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931920"/>
            <a:ext cx="3657600" cy="182880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40690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A4480"/>
                </a:solidFill>
                <a:latin typeface="Calibri"/>
              </a:rPr>
              <a:t>⏱ Pouco tempo, pouco dinheiro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526280"/>
            <a:ext cx="33832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6 dias. Solução cara (OCR + LLM em tudo) custaria centenas de dólares.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1A4480"/>
                </a:solidFill>
                <a:latin typeface="Calibri"/>
              </a:rPr>
              <a:t>→ Solução: pipeline esperto que escolhe a ferramenta certa pra cada página.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A Linha de 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Cada PDF passa por 6 etapas até virar resposta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743200" cy="68580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</a:rPr>
              <a:t>1. Baixar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536192"/>
            <a:ext cx="822960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Pegar todos os PDFs do site da ANEEL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67128"/>
            <a:ext cx="2743200" cy="68580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</a:rPr>
              <a:t>2. Classificar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331720"/>
            <a:ext cx="822960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dirty="0" err="1">
                <a:solidFill>
                  <a:srgbClr val="222222"/>
                </a:solidFill>
                <a:latin typeface="Calibri"/>
              </a:rPr>
              <a:t>Ler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é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fácil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ou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vai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precisar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"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olho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humano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"?</a:t>
            </a:r>
            <a:endParaRPr lang="pt-BR" sz="16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pt-BR" sz="1600" dirty="0">
                <a:solidFill>
                  <a:srgbClr val="222222"/>
                </a:solidFill>
                <a:latin typeface="Calibri"/>
              </a:rPr>
              <a:t>Roteador</a:t>
            </a:r>
            <a:endParaRPr sz="16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743200" cy="68580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</a:rPr>
              <a:t>3. Extrair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127248"/>
            <a:ext cx="822960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dirty="0" err="1">
                <a:solidFill>
                  <a:srgbClr val="222222"/>
                </a:solidFill>
                <a:latin typeface="Calibri"/>
              </a:rPr>
              <a:t>Tirar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o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conteúdo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do PDF →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texto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puro +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tabelas</a:t>
            </a:r>
            <a:endParaRPr sz="16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758184"/>
            <a:ext cx="2743200" cy="68580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</a:rPr>
              <a:t>4. Cortar em pedaços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922776"/>
            <a:ext cx="82296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pt-BR" sz="1600" b="0" dirty="0" err="1">
                <a:solidFill>
                  <a:srgbClr val="222222"/>
                </a:solidFill>
                <a:latin typeface="Calibri"/>
              </a:rPr>
              <a:t>Chunkenização</a:t>
            </a:r>
            <a:endParaRPr sz="16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553712"/>
            <a:ext cx="2743200" cy="68580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</a:rPr>
              <a:t>5. Indexar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718304"/>
            <a:ext cx="82296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pt-BR" sz="1600" b="0" dirty="0" err="1">
                <a:solidFill>
                  <a:srgbClr val="222222"/>
                </a:solidFill>
                <a:latin typeface="Calibri"/>
              </a:rPr>
              <a:t>Embeddings</a:t>
            </a:r>
            <a:endParaRPr sz="16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5349240"/>
            <a:ext cx="2743200" cy="68580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</a:rPr>
              <a:t>6. Responder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513832"/>
            <a:ext cx="82296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pt-BR" sz="1600" b="0" dirty="0">
                <a:solidFill>
                  <a:srgbClr val="222222"/>
                </a:solidFill>
                <a:latin typeface="Calibri"/>
              </a:rPr>
              <a:t>Recuperação de informação → LLM monta a resposta</a:t>
            </a:r>
            <a:endParaRPr sz="16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Baixar e "Ler" os PDFs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Como tirar o texto de 27 mil documentos sem gastar fortuna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A4480"/>
                </a:solidFill>
                <a:latin typeface="Calibri"/>
              </a:rPr>
              <a:t>🌐 Download — Cloudflare bloqueia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30352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Site da ANEEL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inspeciona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JA3 (TLS fingerprint)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requests /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httpx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403.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curl_cffi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com impersonate=chrome resolve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Async com 16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conexões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paralelas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+ retry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exponencial</a:t>
            </a: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54864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rgbClr val="1A4480"/>
                </a:solidFill>
                <a:latin typeface="Calibri"/>
              </a:rPr>
              <a:t>🧠 Router por </a:t>
            </a:r>
            <a:r>
              <a:rPr sz="2000" b="1" dirty="0" err="1">
                <a:solidFill>
                  <a:srgbClr val="1A4480"/>
                </a:solidFill>
                <a:latin typeface="Calibri"/>
              </a:rPr>
              <a:t>página</a:t>
            </a:r>
            <a:r>
              <a:rPr sz="2000" b="1" dirty="0">
                <a:solidFill>
                  <a:srgbClr val="1A4480"/>
                </a:solidFill>
                <a:latin typeface="Calibri"/>
              </a:rPr>
              <a:t> (</a:t>
            </a:r>
            <a:r>
              <a:rPr sz="2000" b="1" dirty="0" err="1">
                <a:solidFill>
                  <a:srgbClr val="1A4480"/>
                </a:solidFill>
                <a:latin typeface="Calibri"/>
              </a:rPr>
              <a:t>não</a:t>
            </a:r>
            <a:r>
              <a:rPr sz="2000" b="1" dirty="0">
                <a:solidFill>
                  <a:srgbClr val="1A4480"/>
                </a:solidFill>
                <a:latin typeface="Calibri"/>
              </a:rPr>
              <a:t> por doc)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30352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Cada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página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classificada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via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PyMuPDF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antes do parse:</a:t>
            </a: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– digital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texto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extraível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direto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– scanned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poucos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chars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alta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razão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imagem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vision</a:t>
            </a:r>
          </a:p>
          <a:p>
            <a:pPr lvl="1"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– complex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tabelas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detectadas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Camelot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ou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vision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Decisão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por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página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doc misto é a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regra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não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exceção</a:t>
            </a: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A4480"/>
                </a:solidFill>
                <a:latin typeface="Calibri"/>
              </a:rPr>
              <a:t>Fast vs Slow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303520" cy="2011680"/>
          </a:xfrm>
          <a:prstGeom prst="roundRect">
            <a:avLst/>
          </a:prstGeom>
          <a:solidFill>
            <a:srgbClr val="E6F4E6"/>
          </a:solidFill>
          <a:ln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50292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b="1">
                <a:solidFill>
                  <a:srgbClr val="228844"/>
                </a:solidFill>
                <a:latin typeface="Calibri"/>
              </a:rPr>
              <a:t>✓ Fast path (~95% das páginas)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5029200" cy="102181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PyMuPDF → texto + bbox dos spans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pdfplumber → tabelas simples (markdown)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Camelot → tabelas com bordas (lattice)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Custo: 0 · totalmente 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303520" cy="2011680"/>
          </a:xfrm>
          <a:prstGeom prst="roundRect">
            <a:avLst/>
          </a:prstGeom>
          <a:solidFill>
            <a:srgbClr val="FFF0E0"/>
          </a:solidFill>
          <a:ln>
            <a:solidFill>
              <a:srgbClr val="C2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50292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b="1">
                <a:solidFill>
                  <a:srgbClr val="C26B00"/>
                </a:solidFill>
                <a:latin typeface="Calibri"/>
              </a:rPr>
              <a:t>⚠ Slow path (~5% das páginas)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20"/>
            <a:ext cx="5029200" cy="102181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Gemini 2.5 Flash via Vertex AI (multimodal)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Render 180 DPI → prompt que exige ~~tachado~~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thinking_budget=0 → custo de input ~$0,15/M tokens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Fallback: gemini-2.5-flash-lite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228844"/>
                </a:solidFill>
                <a:latin typeface="Calibri"/>
              </a:rPr>
              <a:t>💰 Vision em 100% das páginas: ~$300+ · com router por página: ~$22 · ~93% de economia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Texto Revogado (Strikethrough)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O que é e por que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A4480"/>
                </a:solidFill>
                <a:latin typeface="Calibri"/>
              </a:rPr>
              <a:t>O que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675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Texto cortado por linha horizontal: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6675120" cy="82296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800">
                <a:solidFill>
                  <a:srgbClr val="222222"/>
                </a:solidFill>
              </a:rPr>
              <a:t>Art. 5º A distribuidora </a:t>
            </a:r>
            <a:r>
              <a:rPr sz="1800">
                <a:solidFill>
                  <a:srgbClr val="B02020"/>
                </a:solidFill>
              </a:rPr>
              <a:t>deve apresentar plano em 30 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6858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A4480"/>
                </a:solidFill>
                <a:latin typeface="Calibri"/>
              </a:rPr>
              <a:t>Em legislação ANEEL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Indica artigo revogado por norma posterior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Texto continua impresso (rastreabilidade)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Mas não vale mais como norma vigente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280160"/>
            <a:ext cx="4023360" cy="4937760"/>
          </a:xfrm>
          <a:prstGeom prst="roundRect">
            <a:avLst/>
          </a:prstGeom>
          <a:solidFill>
            <a:srgbClr val="FFF4E0"/>
          </a:solidFill>
          <a:ln>
            <a:solidFill>
              <a:srgbClr val="C2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4173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C26B00"/>
                </a:solidFill>
                <a:latin typeface="Calibri"/>
              </a:rPr>
              <a:t>⚠ Por que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LLM lê tachado como vigente → resposta errada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Especialista do setor detecta erro instantâneo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Legislação tem zero tolerância a erro citacional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Campo "situacao" do metadado descreve o doc inteiro, não trechos internos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42685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dirty="0" err="1">
                <a:solidFill>
                  <a:srgbClr val="1A4480"/>
                </a:solidFill>
                <a:latin typeface="Calibri"/>
              </a:rPr>
              <a:t>Problema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: PDF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não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armazena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flag "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isto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é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tachado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".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Texto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e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linha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são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camadas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separadas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—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preciso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A4480"/>
                </a:solidFill>
                <a:latin typeface="Calibri"/>
              </a:rPr>
              <a:t>cruzar</a:t>
            </a:r>
            <a:r>
              <a:rPr sz="1500" b="1" dirty="0">
                <a:solidFill>
                  <a:srgbClr val="1A4480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Como Detectamos o Strikethrough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Cruzar geometria de texto × linhas desenhadas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A4480"/>
                </a:solidFill>
                <a:latin typeface="Calibri"/>
              </a:rPr>
              <a:t>PDF digital — 3 testes geométricos por span de 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6400800" cy="77724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600" b="1">
                <a:solidFill>
                  <a:srgbClr val="1A4480"/>
                </a:solidFill>
              </a:rPr>
              <a:t>1. É linha mesmo?</a:t>
            </a:r>
          </a:p>
          <a:p>
            <a:r>
              <a:rPr sz="1300">
                <a:solidFill>
                  <a:srgbClr val="222222"/>
                </a:solidFill>
              </a:rPr>
              <a:t>horizontal fina (≤1.2px) e comprida (&gt;4px) — descarta ruído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6400800" cy="77724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600" b="1">
                <a:solidFill>
                  <a:srgbClr val="1A4480"/>
                </a:solidFill>
              </a:rPr>
              <a:t>2. Cai no MEIO do texto?</a:t>
            </a:r>
          </a:p>
          <a:p>
            <a:r>
              <a:rPr sz="1300">
                <a:solidFill>
                  <a:srgbClr val="222222"/>
                </a:solidFill>
              </a:rPr>
              <a:t>centro da linha na banda 45% central → descarta sublinhado/overline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6400800" cy="77724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600" b="1">
                <a:solidFill>
                  <a:srgbClr val="1A4480"/>
                </a:solidFill>
              </a:rPr>
              <a:t>3. Cobre o texto?</a:t>
            </a:r>
          </a:p>
          <a:p>
            <a:r>
              <a:rPr sz="1300">
                <a:solidFill>
                  <a:srgbClr val="222222"/>
                </a:solidFill>
              </a:rPr>
              <a:t>sobreposição horizontal ≥ 55% da largura → descarta decoração curta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6858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228844"/>
                </a:solidFill>
                <a:latin typeface="Calibri"/>
              </a:rPr>
              <a:t>3 testes verdadeiros → span marcado revoked=True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3891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1A4480"/>
                </a:solidFill>
                <a:latin typeface="Calibri"/>
              </a:rPr>
              <a:t>Anatomia do span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4884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─── topo (sublinhado: IGNORA)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468880"/>
            <a:ext cx="4114800" cy="91440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texto do span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2880360"/>
            <a:ext cx="3840480" cy="0"/>
          </a:xfrm>
          <a:prstGeom prst="line">
            <a:avLst/>
          </a:prstGeom>
          <a:ln w="25400">
            <a:solidFill>
              <a:srgbClr val="C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43800" y="297180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  <a:latin typeface="Calibri"/>
              </a:rPr>
              <a:t>← banda 45% central = TACHADO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52044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─── base (overline: IGNORA)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Caminho extra (digital): annotations com subtype=StrikeOut → atalho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A4480"/>
                </a:solidFill>
                <a:latin typeface="Calibri"/>
              </a:rPr>
              <a:t>PDF escaneado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Sem geometria → Gemini Vision faz OCR + prompt: "trecho tachado deve aparecer como ~~texto~~"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228844"/>
                </a:solidFill>
                <a:latin typeface="Calibri"/>
              </a:rPr>
              <a:t>→ Saída unificada: marcador ~~...~~ propaga até o prompt da LLM ("nunca trate como vigente")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Cortando o Texto em Pedaços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Por que e como dividir 50 páginas de lei em "trechos"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A4480"/>
                </a:solidFill>
                <a:latin typeface="Calibri"/>
              </a:rPr>
              <a:t>📖 A analogia do livro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9496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LLM não cabe um livro inteiro de uma vez.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Precisamos cortar em pedaços ("chunks").</a:t>
            </a:r>
          </a:p>
          <a:p>
            <a:pPr algn="l"/>
            <a:endParaRPr sz="1500" b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Como cortar?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577840" cy="1280160"/>
          </a:xfrm>
          <a:prstGeom prst="roundRect">
            <a:avLst/>
          </a:prstGeom>
          <a:solidFill>
            <a:srgbClr val="FFE8E8"/>
          </a:solidFill>
          <a:ln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C02020"/>
                </a:solidFill>
                <a:latin typeface="Calibri"/>
              </a:rPr>
              <a:t>✗ Jeito ingênuo: cortar a cada 500 palavras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2120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Corta no meio do Art. 5º. Metade fica num pedaço,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metade noutro. Resposta sai pela metade também.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5577840" cy="1371600"/>
          </a:xfrm>
          <a:prstGeom prst="roundRect">
            <a:avLst/>
          </a:prstGeom>
          <a:solidFill>
            <a:srgbClr val="E6F4E6"/>
          </a:solidFill>
          <a:ln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228844"/>
                </a:solidFill>
                <a:latin typeface="Calibri"/>
              </a:rPr>
              <a:t>✓ Nosso jeito: cortar pela estrutura da lei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Cada Artigo / Parágrafo / Capítulo vira 1 pedaço.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Respeitamos como a lei foi escrita.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A4480"/>
                </a:solidFill>
                <a:latin typeface="Calibri"/>
              </a:rPr>
              <a:t>Payload propagado por chunk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394960" cy="329184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1A4480"/>
                </a:solidFill>
                <a:latin typeface="Calibri"/>
              </a:rPr>
              <a:t>Metadados indexados no Qdrant: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article_ref (Art. 12)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doc_id, arquivo, ano, autor, situacao_doc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page_start, page_end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has_table, has_revoked (booleanos)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ementa, assunto, publicacao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548640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Permite filtros estruturados na query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(ex: ano=2021 AND has_revoked=false) +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citação automática [doc_id | art. X].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Estratégia em 3 Níveis (Cascata)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Não é só regex, nem só recursivo — é os dois trabalhando 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Cada nível só entra em ação se o anterior não resolveu sozinho: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1280160"/>
          </a:xfrm>
          <a:prstGeom prst="roundRect">
            <a:avLst/>
          </a:prstGeom>
          <a:solidFill>
            <a:srgbClr val="E6F0FF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A4480"/>
                </a:solidFill>
                <a:latin typeface="Calibri"/>
              </a:rPr>
              <a:t>Split estrutural por hierarquia legal (regex)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058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Cabeçalhos: Art. X · § N · Capítulo (romano) · Seção · Título.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1 artigo = 1 chunk · article_ref propaga como metadado pra citação.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11247120" cy="1417320"/>
          </a:xfrm>
          <a:prstGeom prst="roundRect">
            <a:avLst/>
          </a:prstGeom>
          <a:solidFill>
            <a:srgbClr val="FFF4E0"/>
          </a:solidFill>
          <a:ln>
            <a:solidFill>
              <a:srgbClr val="C2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" y="3383280"/>
            <a:ext cx="548640" cy="548640"/>
          </a:xfrm>
          <a:prstGeom prst="ellipse">
            <a:avLst/>
          </a:prstGeom>
          <a:solidFill>
            <a:srgbClr val="C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C26B00"/>
                </a:solidFill>
                <a:latin typeface="Calibri"/>
              </a:rPr>
              <a:t>SE bloco &gt; 900 tokens → sliding window com overlap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49039"/>
            <a:ext cx="10058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Limite de 900 escolhido pra caber confortável no max_length=1024 do BGE-M3.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Quebra por parágrafo (\n\n) preservando coerência · overlap 100 tokens evita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perda de contexto na fronteira entre chunks vizinhos.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11247120" cy="1280160"/>
          </a:xfrm>
          <a:prstGeom prst="roundRect">
            <a:avLst/>
          </a:prstGeom>
          <a:solidFill>
            <a:srgbClr val="E6F4E6"/>
          </a:solidFill>
          <a:ln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4937760"/>
            <a:ext cx="548640" cy="548640"/>
          </a:xfrm>
          <a:prstGeom prst="ellipse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920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228844"/>
                </a:solidFill>
                <a:latin typeface="Calibri"/>
              </a:rPr>
              <a:t>SE chunk &lt; 60 tokens → merge no anterior (exceto se has_table=true)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03520"/>
            <a:ext cx="100584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Migalhas ("§ 3º Revogado.") inflam o índice e atrapalham reranker.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Tabelas mantêm chunk próprio · merge atualiza page_end e has_revoked.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A4480"/>
                </a:solidFill>
                <a:latin typeface="Calibri"/>
              </a:rPr>
              <a:t>📌 Estrutura primeiro · tamanho depois — respeita como a lei foi escrita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dirty="0" err="1">
                <a:solidFill>
                  <a:srgbClr val="1A4480"/>
                </a:solidFill>
                <a:latin typeface="Calibri"/>
              </a:rPr>
              <a:t>Transformando</a:t>
            </a:r>
            <a:r>
              <a:rPr sz="30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4480"/>
                </a:solidFill>
                <a:latin typeface="Calibri"/>
              </a:rPr>
              <a:t>Texto</a:t>
            </a:r>
            <a:r>
              <a:rPr sz="30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4480"/>
                </a:solidFill>
                <a:latin typeface="Calibri"/>
              </a:rPr>
              <a:t>em</a:t>
            </a:r>
            <a:r>
              <a:rPr sz="30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lang="pt-BR" sz="3000" b="1" dirty="0" err="1">
                <a:solidFill>
                  <a:srgbClr val="1A4480"/>
                </a:solidFill>
                <a:latin typeface="Calibri"/>
              </a:rPr>
              <a:t>Embeddings</a:t>
            </a:r>
            <a:endParaRPr sz="3000" b="1" dirty="0">
              <a:solidFill>
                <a:srgbClr val="1A448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Como o computador entende o significado de um trecho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A4480"/>
                </a:solidFill>
                <a:latin typeface="Calibri"/>
              </a:rPr>
              <a:t>🧬 Modelo de embedding: BGE-M3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b="0" dirty="0" err="1">
                <a:solidFill>
                  <a:srgbClr val="222222"/>
                </a:solidFill>
                <a:latin typeface="Calibri"/>
              </a:rPr>
              <a:t>Cada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trecho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vira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vetor</a:t>
            </a:r>
            <a:r>
              <a:rPr b="0" dirty="0">
                <a:solidFill>
                  <a:srgbClr val="222222"/>
                </a:solidFill>
                <a:latin typeface="Calibri"/>
              </a:rPr>
              <a:t> de 1024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dimensões</a:t>
            </a:r>
            <a:r>
              <a:rPr b="0" dirty="0">
                <a:solidFill>
                  <a:srgbClr val="222222"/>
                </a:solidFill>
                <a:latin typeface="Calibri"/>
              </a:rPr>
              <a:t> +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vetor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esparso</a:t>
            </a:r>
            <a:r>
              <a:rPr b="0" dirty="0">
                <a:solidFill>
                  <a:srgbClr val="222222"/>
                </a:solidFill>
                <a:latin typeface="Calibri"/>
              </a:rPr>
              <a:t> lexical.</a:t>
            </a:r>
          </a:p>
          <a:p>
            <a:pPr algn="l"/>
            <a:r>
              <a:rPr b="0" dirty="0">
                <a:solidFill>
                  <a:srgbClr val="222222"/>
                </a:solidFill>
                <a:latin typeface="Calibri"/>
              </a:rPr>
              <a:t>Um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único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modelo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entrega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os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dois</a:t>
            </a:r>
            <a:r>
              <a:rPr b="0" dirty="0">
                <a:solidFill>
                  <a:srgbClr val="222222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sem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rodar</a:t>
            </a:r>
            <a:r>
              <a:rPr b="0" dirty="0">
                <a:solidFill>
                  <a:srgbClr val="222222"/>
                </a:solidFill>
                <a:latin typeface="Calibri"/>
              </a:rPr>
              <a:t> BM25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separado</a:t>
            </a:r>
            <a:r>
              <a:rPr b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669280" cy="228600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30352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 err="1">
                <a:solidFill>
                  <a:srgbClr val="1A4480"/>
                </a:solidFill>
                <a:latin typeface="Calibri"/>
              </a:rPr>
              <a:t>Vetor</a:t>
            </a:r>
            <a:r>
              <a:rPr sz="20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A4480"/>
                </a:solidFill>
                <a:latin typeface="Calibri"/>
              </a:rPr>
              <a:t>denso</a:t>
            </a:r>
            <a:r>
              <a:rPr sz="2000" b="1" dirty="0">
                <a:solidFill>
                  <a:srgbClr val="1A4480"/>
                </a:solidFill>
                <a:latin typeface="Calibri"/>
              </a:rPr>
              <a:t> (1024d, cosine)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303520" cy="102181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dirty="0" err="1">
                <a:solidFill>
                  <a:srgbClr val="222222"/>
                </a:solidFill>
                <a:latin typeface="Calibri"/>
              </a:rPr>
              <a:t>Captura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significado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"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prazo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revisão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" ≈ "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período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reanálise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".</a:t>
            </a:r>
          </a:p>
          <a:p>
            <a:pPr algn="l"/>
            <a:endParaRPr sz="16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600" b="0" dirty="0" err="1">
                <a:solidFill>
                  <a:srgbClr val="222222"/>
                </a:solidFill>
                <a:latin typeface="Calibri"/>
              </a:rPr>
              <a:t>Distância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cosseno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·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normalizado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5486400" cy="2286000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512064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 err="1">
                <a:solidFill>
                  <a:srgbClr val="1A4480"/>
                </a:solidFill>
                <a:latin typeface="Calibri"/>
              </a:rPr>
              <a:t>Vetor</a:t>
            </a:r>
            <a:r>
              <a:rPr sz="2000" b="1" dirty="0">
                <a:solidFill>
                  <a:srgbClr val="1A4480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A4480"/>
                </a:solidFill>
                <a:latin typeface="Calibri"/>
              </a:rPr>
              <a:t>esparso</a:t>
            </a:r>
            <a:r>
              <a:rPr sz="2000" b="1" dirty="0">
                <a:solidFill>
                  <a:srgbClr val="1A4480"/>
                </a:solidFill>
                <a:latin typeface="Calibri"/>
              </a:rPr>
              <a:t> (lexical)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91840"/>
            <a:ext cx="5120640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b="0" dirty="0" err="1">
                <a:solidFill>
                  <a:srgbClr val="222222"/>
                </a:solidFill>
                <a:latin typeface="Calibri"/>
              </a:rPr>
              <a:t>Captura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termos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exatos</a:t>
            </a:r>
            <a:r>
              <a:rPr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r>
              <a:rPr b="0" dirty="0">
                <a:solidFill>
                  <a:srgbClr val="222222"/>
                </a:solidFill>
                <a:latin typeface="Calibri"/>
              </a:rPr>
              <a:t>"REN 1.000", "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bandeira</a:t>
            </a:r>
            <a:r>
              <a:rPr b="0" dirty="0">
                <a:solidFill>
                  <a:srgbClr val="222222"/>
                </a:solidFill>
                <a:latin typeface="Calibri"/>
              </a:rPr>
              <a:t>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tarifária</a:t>
            </a:r>
            <a:r>
              <a:rPr b="0" dirty="0">
                <a:solidFill>
                  <a:srgbClr val="222222"/>
                </a:solidFill>
                <a:latin typeface="Calibri"/>
              </a:rPr>
              <a:t>",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siglas</a:t>
            </a:r>
            <a:r>
              <a:rPr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endParaRPr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b="0" dirty="0" err="1">
                <a:solidFill>
                  <a:srgbClr val="222222"/>
                </a:solidFill>
                <a:latin typeface="Calibri"/>
              </a:rPr>
              <a:t>Substitui</a:t>
            </a:r>
            <a:r>
              <a:rPr b="0" dirty="0">
                <a:solidFill>
                  <a:srgbClr val="222222"/>
                </a:solidFill>
                <a:latin typeface="Calibri"/>
              </a:rPr>
              <a:t> BM25 —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nativo</a:t>
            </a:r>
            <a:r>
              <a:rPr b="0" dirty="0">
                <a:solidFill>
                  <a:srgbClr val="222222"/>
                </a:solidFill>
                <a:latin typeface="Calibri"/>
              </a:rPr>
              <a:t> no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Qdrant</a:t>
            </a:r>
            <a:r>
              <a:rPr b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A4480"/>
                </a:solidFill>
                <a:latin typeface="Calibri"/>
              </a:rPr>
              <a:t>Decisões: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12471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BGE-M3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escolhido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por: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multilíngue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forte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em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PT-BR · 8K tokens de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contexto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·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dense+sparse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no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mesmo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modelo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·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roda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local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custo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zero)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Qdrant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escolhido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por: named vectors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nativos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(dense + sparse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na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mesma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coleção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·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filtros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estruturados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ano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doc_id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has_table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· open-source · Docker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Retriever Híbrido com RRF + Rerank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3 fontes de busca → fusão → reordenação → top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828800" cy="6400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Pergunta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17320"/>
            <a:ext cx="2743200" cy="77724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Dense (BGE-M3)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top 40 por cosseno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468880"/>
            <a:ext cx="2743200" cy="77724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Sparse (BGE-M3)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top 40 lexical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520440"/>
            <a:ext cx="2743200" cy="777240"/>
          </a:xfrm>
          <a:prstGeom prst="round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Identifier lookup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regex nº+ano em arquivo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468880"/>
            <a:ext cx="2194560" cy="777240"/>
          </a:xfrm>
          <a:prstGeom prst="roundRect">
            <a:avLst/>
          </a:prstGeom>
          <a:solidFill>
            <a:srgbClr val="44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RRF (k=60)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fusão de rankings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468880"/>
            <a:ext cx="2011680" cy="777240"/>
          </a:xfrm>
          <a:prstGeom prst="roundRect">
            <a:avLst/>
          </a:prstGeom>
          <a:solidFill>
            <a:srgbClr val="44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Reranker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Cohere v3 / BGE-v2-m3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468880"/>
            <a:ext cx="640080" cy="777240"/>
          </a:xfrm>
          <a:prstGeom prst="roundRect">
            <a:avLst/>
          </a:prstGeom>
          <a:solidFill>
            <a:srgbClr val="33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Top </a:t>
            </a:r>
            <a:r>
              <a:rPr lang="pt-BR" sz="1300" b="1" dirty="0">
                <a:solidFill>
                  <a:srgbClr val="FFFFFF"/>
                </a:solidFill>
              </a:rPr>
              <a:t>K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1A4480"/>
                </a:solidFill>
                <a:latin typeface="Calibri"/>
              </a:rPr>
              <a:t>Decisões-chave: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RRF (Reciprocal Rank Fusion) em vez de pesos fixos: combina rankings sem tuning manual; robusto a escalas diferentes (cosseno vs lexical)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Identifier lookup como 3ª fonte: regex extrai "REN 1.000/2021" da query e busca direto no campo arquivo — pergunta por nº de norma não pode depender só de embedding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Hard filter: se identifier match ≤ 3 docs, descarta dense/sparse e busca só dentro deles (evita ruído)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Reranker cross-encoder reordena top 20 → top 6: cohere-rerank-v3 (API) ou BGE-reranker-v2-m3 (local) como fallback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Penalty 0.85 em chunks de ementa (page_start=0): metadados não são conteúdo legal — não devem dominar topo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dirty="0" err="1">
                <a:solidFill>
                  <a:srgbClr val="1A4480"/>
                </a:solidFill>
                <a:latin typeface="Calibri"/>
              </a:rPr>
              <a:t>Respost</a:t>
            </a:r>
            <a:r>
              <a:rPr lang="pt-BR" sz="3000" b="1" dirty="0">
                <a:solidFill>
                  <a:srgbClr val="1A4480"/>
                </a:solidFill>
                <a:latin typeface="Calibri"/>
              </a:rPr>
              <a:t>a</a:t>
            </a:r>
            <a:endParaRPr sz="3000" b="1" dirty="0">
              <a:solidFill>
                <a:srgbClr val="1A448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6715" y="1032344"/>
            <a:ext cx="557784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A4480"/>
                </a:solidFill>
                <a:latin typeface="Calibri"/>
              </a:rPr>
              <a:t>💬 Como a resposta é montada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6715" y="1535264"/>
            <a:ext cx="5577840" cy="2493236"/>
          </a:xfrm>
          <a:prstGeom prst="roundRect">
            <a:avLst/>
          </a:prstGeom>
          <a:solidFill>
            <a:srgbClr val="EEEEF6"/>
          </a:solidFill>
          <a:ln>
            <a:solidFill>
              <a:srgbClr val="1A4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42950" y="1691475"/>
            <a:ext cx="4352925" cy="225292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dirty="0" err="1">
                <a:solidFill>
                  <a:srgbClr val="222222"/>
                </a:solidFill>
                <a:latin typeface="Calibri"/>
              </a:rPr>
              <a:t>Modelo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: Gemini 2.5 Flash (Vertex AI)</a:t>
            </a: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1. Top-</a:t>
            </a:r>
            <a:r>
              <a:rPr lang="pt-BR" sz="1600" b="0" dirty="0">
                <a:solidFill>
                  <a:srgbClr val="222222"/>
                </a:solidFill>
                <a:latin typeface="Calibri"/>
              </a:rPr>
              <a:t>K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chunks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viram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contexto</a:t>
            </a:r>
            <a:endParaRPr lang="pt-BR" sz="1600" b="0" dirty="0">
              <a:solidFill>
                <a:srgbClr val="222222"/>
              </a:solidFill>
              <a:latin typeface="Calibri"/>
            </a:endParaRPr>
          </a:p>
          <a:p>
            <a:pPr algn="l"/>
            <a:endParaRPr sz="16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2. System prompt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impõe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:</a:t>
            </a: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    –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citação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[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doc_id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| art. X]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obrigatória</a:t>
            </a:r>
            <a:endParaRPr sz="16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    –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tratar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~~...~~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como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revogado</a:t>
            </a:r>
            <a:endParaRPr sz="16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    – "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não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consta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"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quando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ausente</a:t>
            </a:r>
            <a:endParaRPr lang="pt-BR" sz="1600" b="0" dirty="0">
              <a:solidFill>
                <a:srgbClr val="222222"/>
              </a:solidFill>
              <a:latin typeface="Calibri"/>
            </a:endParaRPr>
          </a:p>
          <a:p>
            <a:pPr algn="l"/>
            <a:endParaRPr sz="16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222222"/>
                </a:solidFill>
                <a:latin typeface="Calibri"/>
              </a:rPr>
              <a:t>3.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Saída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resposta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+ payload de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citações</a:t>
            </a:r>
            <a:endParaRPr sz="16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53940" y="4658963"/>
            <a:ext cx="557784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1A4480"/>
                </a:solidFill>
                <a:latin typeface="Calibri"/>
              </a:rPr>
              <a:t>Decisões da geração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5380" y="5070443"/>
            <a:ext cx="548640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temperature=0 + thinking_budget=0 → resposta determinística e barata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Gemini 2.5 Flash sobre Pro: latência 3-4× menor, qualidade suficiente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Fallback automático para gemini-2.5-flash-lite em erro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54864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4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1A4480"/>
                </a:solidFill>
                <a:latin typeface="Calibri"/>
              </a:rPr>
              <a:t>Ferramentas Usadas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Cada etapa, qual ferramenta e pra que serve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78798"/>
              </p:ext>
            </p:extLst>
          </p:nvPr>
        </p:nvGraphicFramePr>
        <p:xfrm>
          <a:off x="365760" y="1188720"/>
          <a:ext cx="114299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7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>
                    <a:solidFill>
                      <a:srgbClr val="1A44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Ferramenta</a:t>
                      </a:r>
                    </a:p>
                  </a:txBody>
                  <a:tcPr>
                    <a:solidFill>
                      <a:srgbClr val="1A44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Pra que serve</a:t>
                      </a:r>
                    </a:p>
                  </a:txBody>
                  <a:tcPr>
                    <a:solidFill>
                      <a:srgbClr val="1A4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Baixar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curl_cffi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Disfarça de navegador pra passar pelo Cloudflare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Ler PDF normal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PyMuPDF + pdfplumber + Camelot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Tira texto e tabelas direto do PDF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Ler PDF escaneado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Gemini 2.5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LLM "olha" a página e transcreve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Cortar em pedaços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Lógica própria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Quebra pelos artigos da lei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DNA do 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Vira números pra busca por significado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Banco de busca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Qdrant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Guarda os números e busca rápido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Encontrar trechos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 buscas + fusão + juiz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Acha os 6 melhores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22222"/>
                          </a:solidFill>
                          <a:latin typeface="Calibri"/>
                        </a:rPr>
                        <a:t>Gerar</a:t>
                      </a:r>
                      <a:r>
                        <a:rPr sz="120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Calibri"/>
                        </a:rPr>
                        <a:t>resposta</a:t>
                      </a:r>
                      <a:endParaRPr sz="120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Gemini 2.5 Flash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Lê os trechos e responde com citação</a:t>
                      </a:r>
                    </a:p>
                  </a:txBody>
                  <a:tcPr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endParaRPr sz="120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>
                <a:solidFill>
                  <a:srgbClr val="1A4480"/>
                </a:solidFill>
                <a:latin typeface="Calibri"/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RAG ANEEL · Desafio CEIA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1744</Words>
  <Application>Microsoft Office PowerPoint</Application>
  <PresentationFormat>Widescreen</PresentationFormat>
  <Paragraphs>234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Gustavo Barros</cp:lastModifiedBy>
  <cp:revision>3</cp:revision>
  <dcterms:created xsi:type="dcterms:W3CDTF">2013-01-27T09:14:16Z</dcterms:created>
  <dcterms:modified xsi:type="dcterms:W3CDTF">2026-04-27T13:22:44Z</dcterms:modified>
  <cp:category/>
</cp:coreProperties>
</file>